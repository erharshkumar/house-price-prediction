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embeddedFontLst>
    <p:embeddedFont>
      <p:font typeface="Urbanist" panose="020B0604020202020204" charset="0"/>
      <p:bold r:id="rId22"/>
      <p:boldItalic r:id="rId23"/>
    </p:embeddedFont>
    <p:embeddedFont>
      <p:font typeface="Urbanist Medium" panose="020B0604020202020204" charset="0"/>
      <p:regular r:id="rId24"/>
      <p:bold r:id="rId25"/>
      <p:italic r:id="rId26"/>
      <p:boldItalic r:id="rId27"/>
    </p:embeddedFont>
    <p:embeddedFont>
      <p:font typeface="Urbanist SemiBold" panose="020B060402020202020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919B055-D9E0-4967-AC52-805892EC272E}">
  <a:tblStyle styleId="{D919B055-D9E0-4967-AC52-805892EC272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2122eb52c_0_14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f2122eb52c_0_14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2122eb52c_0_16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f2122eb52c_0_16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2122eb52c_0_16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f2122eb52c_0_16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2122eb52c_0_28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f2122eb52c_0_28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f2122eb52c_0_28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f2122eb52c_0_28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f2122eb52c_0_29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f2122eb52c_0_29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2122eb52c_0_29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f2122eb52c_0_29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f2122eb52c_0_40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f2122eb52c_0_40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f2122eb52c_0_40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f2122eb52c_0_40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f2122eb52c_0_6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f2122eb52c_0_6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f2122eb52c_0_63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f2122eb52c_0_63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f2122eb52c_0_63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f2122eb52c_0_63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A deep black background with a very subtle, soft emerald green and dark lime glow emanating from the top left corner, high quality, professional presentation background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" name="Google Shape;85;p13"/>
          <p:cNvGrpSpPr/>
          <p:nvPr/>
        </p:nvGrpSpPr>
        <p:grpSpPr>
          <a:xfrm>
            <a:off x="762000" y="762000"/>
            <a:ext cx="10668000" cy="2238375"/>
            <a:chOff x="0" y="0"/>
            <a:chExt cx="10668000" cy="2238375"/>
          </a:xfrm>
        </p:grpSpPr>
        <p:sp>
          <p:nvSpPr>
            <p:cNvPr id="86" name="Google Shape;86;p13"/>
            <p:cNvSpPr txBox="1"/>
            <p:nvPr/>
          </p:nvSpPr>
          <p:spPr>
            <a:xfrm>
              <a:off x="0" y="0"/>
              <a:ext cx="571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>
                  <a:solidFill>
                    <a:srgbClr val="DEFF9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Portfolio Project • Regression</a:t>
              </a:r>
              <a:endParaRPr sz="1400" b="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sp>
          <p:nvSpPr>
            <p:cNvPr id="87" name="Google Shape;87;p13"/>
            <p:cNvSpPr txBox="1"/>
            <p:nvPr/>
          </p:nvSpPr>
          <p:spPr>
            <a:xfrm>
              <a:off x="0" y="428625"/>
              <a:ext cx="10668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970" b="1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House Price </a:t>
              </a:r>
              <a:r>
                <a:rPr lang="en-US" sz="6970" b="1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Prediction</a:t>
              </a:r>
              <a:endParaRPr sz="6970" b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88" name="Google Shape;88;p13"/>
            <p:cNvSpPr txBox="1"/>
            <p:nvPr/>
          </p:nvSpPr>
          <p:spPr>
            <a:xfrm>
              <a:off x="0" y="1666875"/>
              <a:ext cx="7620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Predicting median house values on the California Housing dataset with an end-to-end linear regression pipeline.</a:t>
              </a:r>
              <a:endParaRPr sz="1800" b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89" name="Google Shape;89;p13"/>
          <p:cNvGrpSpPr/>
          <p:nvPr/>
        </p:nvGrpSpPr>
        <p:grpSpPr>
          <a:xfrm>
            <a:off x="762000" y="4000500"/>
            <a:ext cx="9906000" cy="1714500"/>
            <a:chOff x="0" y="0"/>
            <a:chExt cx="9906000" cy="1714500"/>
          </a:xfrm>
        </p:grpSpPr>
        <p:grpSp>
          <p:nvGrpSpPr>
            <p:cNvPr id="90" name="Google Shape;90;p13"/>
            <p:cNvGrpSpPr/>
            <p:nvPr/>
          </p:nvGrpSpPr>
          <p:grpSpPr>
            <a:xfrm>
              <a:off x="0" y="0"/>
              <a:ext cx="3048000" cy="1714500"/>
              <a:chOff x="0" y="0"/>
              <a:chExt cx="3048000" cy="1714500"/>
            </a:xfrm>
          </p:grpSpPr>
          <p:sp>
            <p:nvSpPr>
              <p:cNvPr id="91" name="Google Shape;91;p13"/>
              <p:cNvSpPr/>
              <p:nvPr/>
            </p:nvSpPr>
            <p:spPr>
              <a:xfrm>
                <a:off x="0" y="0"/>
                <a:ext cx="3048000" cy="1714500"/>
              </a:xfrm>
              <a:prstGeom prst="roundRect">
                <a:avLst>
                  <a:gd name="adj" fmla="val 11111"/>
                </a:avLst>
              </a:prstGeom>
              <a:solidFill>
                <a:srgbClr val="1A1A1A"/>
              </a:solidFill>
              <a:ln w="9525" cap="flat" cmpd="sng">
                <a:solidFill>
                  <a:srgbClr val="33333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13"/>
              <p:cNvSpPr txBox="1"/>
              <p:nvPr/>
            </p:nvSpPr>
            <p:spPr>
              <a:xfrm>
                <a:off x="285750" y="285750"/>
                <a:ext cx="24765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800" b="1">
                    <a:solidFill>
                      <a:srgbClr val="DEFF9A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20,640</a:t>
                </a:r>
                <a:endParaRPr sz="4800" b="1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0">
                    <a:solidFill>
                      <a:srgbClr val="F5F5F5"/>
                    </a:solidFill>
                    <a:latin typeface="Urbanist Medium"/>
                    <a:ea typeface="Urbanist Medium"/>
                    <a:cs typeface="Urbanist Medium"/>
                    <a:sym typeface="Urbanist Medium"/>
                  </a:rPr>
                  <a:t>Households</a:t>
                </a:r>
                <a:endParaRPr sz="1400" b="0">
                  <a:solidFill>
                    <a:srgbClr val="F5F5F5"/>
                  </a:solidFill>
                  <a:latin typeface="Urbanist Medium"/>
                  <a:ea typeface="Urbanist Medium"/>
                  <a:cs typeface="Urbanist Medium"/>
                  <a:sym typeface="Urbanist Medium"/>
                </a:endParaRPr>
              </a:p>
            </p:txBody>
          </p:sp>
        </p:grpSp>
        <p:grpSp>
          <p:nvGrpSpPr>
            <p:cNvPr id="93" name="Google Shape;93;p13"/>
            <p:cNvGrpSpPr/>
            <p:nvPr/>
          </p:nvGrpSpPr>
          <p:grpSpPr>
            <a:xfrm>
              <a:off x="3429000" y="0"/>
              <a:ext cx="3048000" cy="1714500"/>
              <a:chOff x="0" y="0"/>
              <a:chExt cx="3048000" cy="1714500"/>
            </a:xfrm>
          </p:grpSpPr>
          <p:sp>
            <p:nvSpPr>
              <p:cNvPr id="94" name="Google Shape;94;p13"/>
              <p:cNvSpPr/>
              <p:nvPr/>
            </p:nvSpPr>
            <p:spPr>
              <a:xfrm>
                <a:off x="0" y="0"/>
                <a:ext cx="3048000" cy="1714500"/>
              </a:xfrm>
              <a:prstGeom prst="roundRect">
                <a:avLst>
                  <a:gd name="adj" fmla="val 11111"/>
                </a:avLst>
              </a:prstGeom>
              <a:solidFill>
                <a:srgbClr val="1A1A1A"/>
              </a:solidFill>
              <a:ln w="9525" cap="flat" cmpd="sng">
                <a:solidFill>
                  <a:srgbClr val="33333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13"/>
              <p:cNvSpPr txBox="1"/>
              <p:nvPr/>
            </p:nvSpPr>
            <p:spPr>
              <a:xfrm>
                <a:off x="285750" y="285750"/>
                <a:ext cx="24765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800" b="1">
                    <a:solidFill>
                      <a:srgbClr val="DEFF9A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8</a:t>
                </a:r>
                <a:endParaRPr sz="4800" b="1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0">
                    <a:solidFill>
                      <a:srgbClr val="F5F5F5"/>
                    </a:solidFill>
                    <a:latin typeface="Urbanist Medium"/>
                    <a:ea typeface="Urbanist Medium"/>
                    <a:cs typeface="Urbanist Medium"/>
                    <a:sym typeface="Urbanist Medium"/>
                  </a:rPr>
                  <a:t>Input Features</a:t>
                </a:r>
                <a:endParaRPr sz="1400" b="0">
                  <a:solidFill>
                    <a:srgbClr val="F5F5F5"/>
                  </a:solidFill>
                  <a:latin typeface="Urbanist Medium"/>
                  <a:ea typeface="Urbanist Medium"/>
                  <a:cs typeface="Urbanist Medium"/>
                  <a:sym typeface="Urbanist Medium"/>
                </a:endParaRPr>
              </a:p>
            </p:txBody>
          </p:sp>
        </p:grpSp>
        <p:grpSp>
          <p:nvGrpSpPr>
            <p:cNvPr id="96" name="Google Shape;96;p13"/>
            <p:cNvGrpSpPr/>
            <p:nvPr/>
          </p:nvGrpSpPr>
          <p:grpSpPr>
            <a:xfrm>
              <a:off x="6858000" y="0"/>
              <a:ext cx="3048000" cy="1714500"/>
              <a:chOff x="0" y="0"/>
              <a:chExt cx="3048000" cy="1714500"/>
            </a:xfrm>
          </p:grpSpPr>
          <p:sp>
            <p:nvSpPr>
              <p:cNvPr id="97" name="Google Shape;97;p13"/>
              <p:cNvSpPr/>
              <p:nvPr/>
            </p:nvSpPr>
            <p:spPr>
              <a:xfrm>
                <a:off x="0" y="0"/>
                <a:ext cx="3048000" cy="1714500"/>
              </a:xfrm>
              <a:prstGeom prst="roundRect">
                <a:avLst>
                  <a:gd name="adj" fmla="val 11111"/>
                </a:avLst>
              </a:prstGeom>
              <a:solidFill>
                <a:srgbClr val="1A1A1A"/>
              </a:solidFill>
              <a:ln w="9525" cap="flat" cmpd="sng">
                <a:solidFill>
                  <a:srgbClr val="33333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13"/>
              <p:cNvSpPr txBox="1"/>
              <p:nvPr/>
            </p:nvSpPr>
            <p:spPr>
              <a:xfrm>
                <a:off x="285750" y="285750"/>
                <a:ext cx="24765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800" b="1">
                    <a:solidFill>
                      <a:srgbClr val="DEFF9A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0.60</a:t>
                </a:r>
                <a:endParaRPr sz="4800" b="1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0">
                    <a:solidFill>
                      <a:srgbClr val="F5F5F5"/>
                    </a:solidFill>
                    <a:latin typeface="Urbanist Medium"/>
                    <a:ea typeface="Urbanist Medium"/>
                    <a:cs typeface="Urbanist Medium"/>
                    <a:sym typeface="Urbanist Medium"/>
                  </a:rPr>
                  <a:t>Test R² Score</a:t>
                </a:r>
                <a:endParaRPr sz="1400" b="0">
                  <a:solidFill>
                    <a:srgbClr val="F5F5F5"/>
                  </a:solidFill>
                  <a:latin typeface="Urbanist Medium"/>
                  <a:ea typeface="Urbanist Medium"/>
                  <a:cs typeface="Urbanist Medium"/>
                  <a:sym typeface="Urbanist Medium"/>
                </a:endParaRPr>
              </a:p>
            </p:txBody>
          </p:sp>
        </p:grpSp>
      </p:grpSp>
      <p:grpSp>
        <p:nvGrpSpPr>
          <p:cNvPr id="99" name="Google Shape;99;p13"/>
          <p:cNvGrpSpPr/>
          <p:nvPr/>
        </p:nvGrpSpPr>
        <p:grpSpPr>
          <a:xfrm>
            <a:off x="762000" y="6286500"/>
            <a:ext cx="10668000" cy="428775"/>
            <a:chOff x="0" y="0"/>
            <a:chExt cx="10668000" cy="428775"/>
          </a:xfrm>
        </p:grpSpPr>
        <p:cxnSp>
          <p:nvCxnSpPr>
            <p:cNvPr id="100" name="Google Shape;100;p13"/>
            <p:cNvCxnSpPr/>
            <p:nvPr/>
          </p:nvCxnSpPr>
          <p:spPr>
            <a:xfrm>
              <a:off x="0" y="0"/>
              <a:ext cx="10668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333333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01" name="Google Shape;101;p13"/>
            <p:cNvSpPr txBox="1"/>
            <p:nvPr/>
          </p:nvSpPr>
          <p:spPr>
            <a:xfrm>
              <a:off x="0" y="142875"/>
              <a:ext cx="10668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>
                  <a:solidFill>
                    <a:srgbClr val="666666"/>
                  </a:solidFill>
                  <a:latin typeface="Urbanist"/>
                  <a:ea typeface="Urbanist"/>
                  <a:cs typeface="Urbanist"/>
                  <a:sym typeface="Urbanist"/>
                </a:rPr>
                <a:t>Harsh Kumar | California Housing Dataset • scikit-learn</a:t>
              </a:r>
              <a:endParaRPr sz="1000" b="0">
                <a:solidFill>
                  <a:srgbClr val="666666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 txBox="1"/>
          <p:nvPr/>
        </p:nvSpPr>
        <p:spPr>
          <a:xfrm>
            <a:off x="571500" y="571500"/>
            <a:ext cx="11049000" cy="55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Project </a:t>
            </a:r>
            <a:r>
              <a:rPr lang="en-US" sz="3600" b="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Objective</a:t>
            </a:r>
            <a:endParaRPr sz="3600" b="0">
              <a:solidFill>
                <a:srgbClr val="F5F5F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grpSp>
        <p:nvGrpSpPr>
          <p:cNvPr id="107" name="Google Shape;107;p14"/>
          <p:cNvGrpSpPr/>
          <p:nvPr/>
        </p:nvGrpSpPr>
        <p:grpSpPr>
          <a:xfrm>
            <a:off x="571500" y="1524000"/>
            <a:ext cx="11049000" cy="4381500"/>
            <a:chOff x="0" y="0"/>
            <a:chExt cx="11049000" cy="4381500"/>
          </a:xfrm>
        </p:grpSpPr>
        <p:sp>
          <p:nvSpPr>
            <p:cNvPr id="108" name="Google Shape;108;p14"/>
            <p:cNvSpPr/>
            <p:nvPr/>
          </p:nvSpPr>
          <p:spPr>
            <a:xfrm>
              <a:off x="0" y="0"/>
              <a:ext cx="11049000" cy="4381500"/>
            </a:xfrm>
            <a:prstGeom prst="roundRect">
              <a:avLst>
                <a:gd name="adj" fmla="val 4347"/>
              </a:avLst>
            </a:prstGeom>
            <a:solidFill>
              <a:srgbClr val="1A1A1A"/>
            </a:solidFill>
            <a:ln w="9525" cap="flat" cmpd="sng">
              <a:solidFill>
                <a:srgbClr val="33333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9" name="Google Shape;109;p14"/>
            <p:cNvGrpSpPr/>
            <p:nvPr/>
          </p:nvGrpSpPr>
          <p:grpSpPr>
            <a:xfrm>
              <a:off x="381000" y="381000"/>
              <a:ext cx="4953000" cy="1238400"/>
              <a:chOff x="0" y="0"/>
              <a:chExt cx="4953000" cy="1238400"/>
            </a:xfrm>
          </p:grpSpPr>
          <p:sp>
            <p:nvSpPr>
              <p:cNvPr id="110" name="Google Shape;110;p14"/>
              <p:cNvSpPr/>
              <p:nvPr/>
            </p:nvSpPr>
            <p:spPr>
              <a:xfrm>
                <a:off x="0" y="0"/>
                <a:ext cx="4953000" cy="1238400"/>
              </a:xfrm>
              <a:prstGeom prst="roundRect">
                <a:avLst>
                  <a:gd name="adj" fmla="val 11538"/>
                </a:avLst>
              </a:prstGeom>
              <a:solidFill>
                <a:srgbClr val="26262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14"/>
              <p:cNvSpPr txBox="1"/>
              <p:nvPr/>
            </p:nvSpPr>
            <p:spPr>
              <a:xfrm>
                <a:off x="0" y="0"/>
                <a:ext cx="4953000" cy="123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0" tIns="190500" rIns="190500" bIns="1905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>
                    <a:solidFill>
                      <a:srgbClr val="DEFF9A"/>
                    </a:solidFill>
                    <a:latin typeface="Urbanist SemiBold"/>
                    <a:ea typeface="Urbanist SemiBold"/>
                    <a:cs typeface="Urbanist SemiBold"/>
                    <a:sym typeface="Urbanist SemiBold"/>
                  </a:rPr>
                  <a:t>Primary Goal</a:t>
                </a:r>
                <a:endParaRPr sz="2000" b="0">
                  <a:solidFill>
                    <a:srgbClr val="DEFF9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US" sz="1400" b="0">
                    <a:solidFill>
                      <a:srgbClr val="DAFFDE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Develop a machine learning model capable of predicting house prices based on various housing-related features.</a:t>
                </a:r>
                <a:endParaRPr sz="1400" b="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  <p:grpSp>
          <p:nvGrpSpPr>
            <p:cNvPr id="112" name="Google Shape;112;p14"/>
            <p:cNvGrpSpPr/>
            <p:nvPr/>
          </p:nvGrpSpPr>
          <p:grpSpPr>
            <a:xfrm>
              <a:off x="381000" y="1809750"/>
              <a:ext cx="4953000" cy="2190900"/>
              <a:chOff x="0" y="0"/>
              <a:chExt cx="4953000" cy="2190900"/>
            </a:xfrm>
          </p:grpSpPr>
          <p:sp>
            <p:nvSpPr>
              <p:cNvPr id="113" name="Google Shape;113;p14"/>
              <p:cNvSpPr/>
              <p:nvPr/>
            </p:nvSpPr>
            <p:spPr>
              <a:xfrm>
                <a:off x="0" y="0"/>
                <a:ext cx="4953000" cy="2190900"/>
              </a:xfrm>
              <a:prstGeom prst="roundRect">
                <a:avLst>
                  <a:gd name="adj" fmla="val 6521"/>
                </a:avLst>
              </a:prstGeom>
              <a:solidFill>
                <a:srgbClr val="26262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14"/>
              <p:cNvSpPr txBox="1"/>
              <p:nvPr/>
            </p:nvSpPr>
            <p:spPr>
              <a:xfrm>
                <a:off x="0" y="0"/>
                <a:ext cx="4953000" cy="219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0" tIns="190500" rIns="190500" bIns="19050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>
                    <a:solidFill>
                      <a:srgbClr val="DEFF9A"/>
                    </a:solidFill>
                    <a:latin typeface="Urbanist SemiBold"/>
                    <a:ea typeface="Urbanist SemiBold"/>
                    <a:cs typeface="Urbanist SemiBold"/>
                    <a:sym typeface="Urbanist SemiBold"/>
                  </a:rPr>
                  <a:t>Core Workflow</a:t>
                </a:r>
                <a:endParaRPr sz="2000" b="0">
                  <a:solidFill>
                    <a:srgbClr val="DEFF9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US" sz="1300" b="0">
                    <a:solidFill>
                      <a:srgbClr val="F5F5F5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This project demonstrates the complete machine learning workflow, including:</a:t>
                </a:r>
                <a:endParaRPr sz="1300" b="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marL="457200" lvl="0" indent="-304800" algn="l" rtl="0">
                  <a:spcBef>
                    <a:spcPts val="1125"/>
                  </a:spcBef>
                  <a:spcAft>
                    <a:spcPts val="0"/>
                  </a:spcAft>
                  <a:buClr>
                    <a:srgbClr val="DAFFDE"/>
                  </a:buClr>
                  <a:buSzPts val="1200"/>
                  <a:buFont typeface="Urbanist"/>
                  <a:buChar char="●"/>
                </a:pPr>
                <a:r>
                  <a:rPr lang="en-US" sz="1200" b="0">
                    <a:solidFill>
                      <a:srgbClr val="DAFFDE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Data Analysis &amp; Preprocessing</a:t>
                </a:r>
                <a:endParaRPr sz="1200" b="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marL="457200" lvl="0" indent="-304800" algn="l" rtl="0">
                  <a:spcBef>
                    <a:spcPts val="750"/>
                  </a:spcBef>
                  <a:spcAft>
                    <a:spcPts val="0"/>
                  </a:spcAft>
                  <a:buClr>
                    <a:srgbClr val="DAFFDE"/>
                  </a:buClr>
                  <a:buSzPts val="1200"/>
                  <a:buFont typeface="Urbanist"/>
                  <a:buChar char="●"/>
                </a:pPr>
                <a:r>
                  <a:rPr lang="en-US" sz="1200" b="0">
                    <a:solidFill>
                      <a:srgbClr val="DAFFDE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Model Building &amp; Evaluation</a:t>
                </a:r>
                <a:endParaRPr sz="1200" b="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marL="457200" lvl="0" indent="-304800" algn="l" rtl="0">
                  <a:spcBef>
                    <a:spcPts val="750"/>
                  </a:spcBef>
                  <a:spcAft>
                    <a:spcPts val="0"/>
                  </a:spcAft>
                  <a:buClr>
                    <a:srgbClr val="DAFFDE"/>
                  </a:buClr>
                  <a:buSzPts val="1200"/>
                  <a:buFont typeface="Urbanist"/>
                  <a:buChar char="●"/>
                </a:pPr>
                <a:r>
                  <a:rPr lang="en-US" sz="1200" b="0">
                    <a:solidFill>
                      <a:srgbClr val="DAFFDE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Deployment Preparation</a:t>
                </a:r>
                <a:endParaRPr sz="1200" b="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  <p:sp>
          <p:nvSpPr>
            <p:cNvPr id="115" name="Google Shape;115;p14"/>
            <p:cNvSpPr txBox="1"/>
            <p:nvPr/>
          </p:nvSpPr>
          <p:spPr>
            <a:xfrm>
              <a:off x="5715000" y="381000"/>
              <a:ext cx="4953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End-to-End ML Pipeline</a:t>
              </a:r>
              <a:endParaRPr sz="2800" b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pic>
          <p:nvPicPr>
            <p:cNvPr id="116" name="Google Shape;116;p14"/>
            <p:cNvPicPr preferRelativeResize="0"/>
            <p:nvPr/>
          </p:nvPicPr>
          <p:blipFill rotWithShape="1">
            <a:blip r:embed="rId4">
              <a:alphaModFix/>
            </a:blip>
            <a:srcRect t="43" b="37876"/>
            <a:stretch/>
          </p:blipFill>
          <p:spPr>
            <a:xfrm>
              <a:off x="5715000" y="28575"/>
              <a:ext cx="4953000" cy="3048000"/>
            </a:xfrm>
            <a:prstGeom prst="roundRect">
              <a:avLst>
                <a:gd name="adj" fmla="val 6250"/>
              </a:avLst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/>
          <p:cNvPicPr preferRelativeResize="0"/>
          <p:nvPr/>
        </p:nvPicPr>
        <p:blipFill rotWithShape="1">
          <a:blip r:embed="rId5">
            <a:alphaModFix/>
          </a:blip>
          <a:srcRect l="387" r="387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" name="Google Shape;123;p15"/>
          <p:cNvGrpSpPr/>
          <p:nvPr/>
        </p:nvGrpSpPr>
        <p:grpSpPr>
          <a:xfrm>
            <a:off x="762000" y="571500"/>
            <a:ext cx="10668000" cy="1285875"/>
            <a:chOff x="0" y="0"/>
            <a:chExt cx="10668000" cy="1285875"/>
          </a:xfrm>
        </p:grpSpPr>
        <p:sp>
          <p:nvSpPr>
            <p:cNvPr id="124" name="Google Shape;124;p15"/>
            <p:cNvSpPr txBox="1"/>
            <p:nvPr/>
          </p:nvSpPr>
          <p:spPr>
            <a:xfrm>
              <a:off x="0" y="0"/>
              <a:ext cx="10668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>
                  <a:solidFill>
                    <a:srgbClr val="DEFF9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THE DATA</a:t>
              </a:r>
              <a:endParaRPr sz="1400" b="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sp>
          <p:nvSpPr>
            <p:cNvPr id="125" name="Google Shape;125;p15"/>
            <p:cNvSpPr txBox="1"/>
            <p:nvPr/>
          </p:nvSpPr>
          <p:spPr>
            <a:xfrm>
              <a:off x="0" y="523875"/>
              <a:ext cx="1066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1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Dataset </a:t>
              </a:r>
              <a:r>
                <a:rPr lang="en-US" sz="4800" b="1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Overview</a:t>
              </a:r>
              <a:endParaRPr sz="4800" b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126" name="Google Shape;126;p15"/>
          <p:cNvSpPr txBox="1"/>
          <p:nvPr/>
        </p:nvSpPr>
        <p:spPr>
          <a:xfrm>
            <a:off x="762000" y="1905000"/>
            <a:ext cx="5715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California Housing dataset (scikit-learn) captures demographic and geographic data for California census block groups from the 1990 census.</a:t>
            </a:r>
            <a:endParaRPr sz="1600" b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762000" y="2762250"/>
            <a:ext cx="6191400" cy="3238500"/>
          </a:xfrm>
          <a:prstGeom prst="roundRect">
            <a:avLst>
              <a:gd name="adj" fmla="val 5882"/>
            </a:avLst>
          </a:prstGeom>
          <a:solidFill>
            <a:srgbClr val="1A1A1A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28" name="Google Shape;128;p15"/>
          <p:cNvGraphicFramePr/>
          <p:nvPr/>
        </p:nvGraphicFramePr>
        <p:xfrm>
          <a:off x="1000125" y="3000375"/>
          <a:ext cx="5715000" cy="2794370"/>
        </p:xfrm>
        <a:graphic>
          <a:graphicData uri="http://schemas.openxmlformats.org/drawingml/2006/table">
            <a:tbl>
              <a:tblPr>
                <a:noFill/>
                <a:tableStyleId>{D919B055-D9E0-4967-AC52-805892EC272E}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Feature</a:t>
                      </a:r>
                      <a:endParaRPr sz="1300" b="1">
                        <a:solidFill>
                          <a:srgbClr val="DEFF9A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114300" marR="114300" marT="114300" marB="114300">
                    <a:lnB w="19050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Description</a:t>
                      </a:r>
                      <a:endParaRPr sz="1300" b="1">
                        <a:solidFill>
                          <a:srgbClr val="DEFF9A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114300" marR="114300" marT="114300" marB="114300">
                    <a:lnB w="19050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>
                          <a:solidFill>
                            <a:srgbClr val="FFFFFF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MedInc</a:t>
                      </a:r>
                      <a:endParaRPr sz="1100" b="0">
                        <a:solidFill>
                          <a:srgbClr val="FFFFFF"/>
                        </a:solidFill>
                        <a:latin typeface="Urbanist SemiBold"/>
                        <a:ea typeface="Urbanist SemiBold"/>
                        <a:cs typeface="Urbanist SemiBold"/>
                        <a:sym typeface="Urbanist SemiBold"/>
                      </a:endParaRPr>
                    </a:p>
                  </a:txBody>
                  <a:tcPr marL="95250" marR="95250" marT="95250" marB="95250">
                    <a:lnT w="19050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Median income in the block group</a:t>
                      </a:r>
                      <a:endParaRPr sz="1100">
                        <a:solidFill>
                          <a:srgbClr val="DAFFDE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95250" marR="95250" marT="95250" marB="95250">
                    <a:lnT w="19050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>
                          <a:solidFill>
                            <a:srgbClr val="FFFFFF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HouseAge</a:t>
                      </a:r>
                      <a:endParaRPr sz="1100" b="0">
                        <a:solidFill>
                          <a:srgbClr val="FFFFFF"/>
                        </a:solidFill>
                        <a:latin typeface="Urbanist SemiBold"/>
                        <a:ea typeface="Urbanist SemiBold"/>
                        <a:cs typeface="Urbanist SemiBold"/>
                        <a:sym typeface="Urbanist SemiBold"/>
                      </a:endParaRPr>
                    </a:p>
                  </a:txBody>
                  <a:tcPr marL="95250" marR="95250" marT="95250" marB="95250"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Median house age</a:t>
                      </a:r>
                      <a:endParaRPr sz="1100">
                        <a:solidFill>
                          <a:srgbClr val="DAFFDE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95250" marR="95250" marT="95250" marB="95250"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>
                          <a:solidFill>
                            <a:srgbClr val="FFFFFF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AveRooms</a:t>
                      </a:r>
                      <a:endParaRPr sz="1100" b="0">
                        <a:solidFill>
                          <a:srgbClr val="FFFFFF"/>
                        </a:solidFill>
                        <a:latin typeface="Urbanist SemiBold"/>
                        <a:ea typeface="Urbanist SemiBold"/>
                        <a:cs typeface="Urbanist SemiBold"/>
                        <a:sym typeface="Urbanist SemiBold"/>
                      </a:endParaRPr>
                    </a:p>
                  </a:txBody>
                  <a:tcPr marL="95250" marR="95250" marT="95250" marB="95250"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Average rooms per household</a:t>
                      </a:r>
                      <a:endParaRPr sz="1100">
                        <a:solidFill>
                          <a:srgbClr val="DAFFDE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95250" marR="95250" marT="95250" marB="95250"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>
                          <a:solidFill>
                            <a:srgbClr val="FFFFFF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AveBedrms</a:t>
                      </a:r>
                      <a:endParaRPr sz="1100" b="0">
                        <a:solidFill>
                          <a:srgbClr val="FFFFFF"/>
                        </a:solidFill>
                        <a:latin typeface="Urbanist SemiBold"/>
                        <a:ea typeface="Urbanist SemiBold"/>
                        <a:cs typeface="Urbanist SemiBold"/>
                        <a:sym typeface="Urbanist SemiBold"/>
                      </a:endParaRPr>
                    </a:p>
                  </a:txBody>
                  <a:tcPr marL="95250" marR="95250" marT="95250" marB="95250"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Average bedrooms per household</a:t>
                      </a:r>
                      <a:endParaRPr sz="1100">
                        <a:solidFill>
                          <a:srgbClr val="DAFFDE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95250" marR="95250" marT="95250" marB="95250"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>
                          <a:solidFill>
                            <a:srgbClr val="FFFFFF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Population</a:t>
                      </a:r>
                      <a:endParaRPr sz="1100" b="0">
                        <a:solidFill>
                          <a:srgbClr val="FFFFFF"/>
                        </a:solidFill>
                        <a:latin typeface="Urbanist SemiBold"/>
                        <a:ea typeface="Urbanist SemiBold"/>
                        <a:cs typeface="Urbanist SemiBold"/>
                        <a:sym typeface="Urbanist SemiBold"/>
                      </a:endParaRPr>
                    </a:p>
                  </a:txBody>
                  <a:tcPr marL="95250" marR="95250" marT="95250" marB="95250"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Block group population</a:t>
                      </a:r>
                      <a:endParaRPr sz="1100">
                        <a:solidFill>
                          <a:srgbClr val="DAFFDE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95250" marR="95250" marT="95250" marB="95250"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4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Price (target)</a:t>
                      </a:r>
                      <a:endParaRPr sz="1100" b="1">
                        <a:solidFill>
                          <a:srgbClr val="DEFF9A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95250" marR="95250" marT="95250" marB="95250"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Median house value ($100k units)</a:t>
                      </a:r>
                      <a:endParaRPr sz="1100">
                        <a:solidFill>
                          <a:srgbClr val="DEFF9A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95250" marR="95250" marT="95250" marB="95250"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129" name="Google Shape;129;p15"/>
          <p:cNvGrpSpPr/>
          <p:nvPr/>
        </p:nvGrpSpPr>
        <p:grpSpPr>
          <a:xfrm>
            <a:off x="7239000" y="1905000"/>
            <a:ext cx="4191000" cy="4095900"/>
            <a:chOff x="0" y="0"/>
            <a:chExt cx="4191000" cy="4095900"/>
          </a:xfrm>
        </p:grpSpPr>
        <p:grpSp>
          <p:nvGrpSpPr>
            <p:cNvPr id="130" name="Google Shape;130;p15"/>
            <p:cNvGrpSpPr/>
            <p:nvPr/>
          </p:nvGrpSpPr>
          <p:grpSpPr>
            <a:xfrm>
              <a:off x="0" y="0"/>
              <a:ext cx="4191000" cy="1238400"/>
              <a:chOff x="0" y="0"/>
              <a:chExt cx="4191000" cy="1238400"/>
            </a:xfrm>
          </p:grpSpPr>
          <p:sp>
            <p:nvSpPr>
              <p:cNvPr id="131" name="Google Shape;131;p15"/>
              <p:cNvSpPr/>
              <p:nvPr/>
            </p:nvSpPr>
            <p:spPr>
              <a:xfrm>
                <a:off x="0" y="0"/>
                <a:ext cx="4191000" cy="1238400"/>
              </a:xfrm>
              <a:prstGeom prst="roundRect">
                <a:avLst>
                  <a:gd name="adj" fmla="val 15384"/>
                </a:avLst>
              </a:prstGeom>
              <a:solidFill>
                <a:srgbClr val="1A1A1A"/>
              </a:solidFill>
              <a:ln w="9525" cap="flat" cmpd="sng">
                <a:solidFill>
                  <a:srgbClr val="33333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15"/>
              <p:cNvSpPr txBox="1"/>
              <p:nvPr/>
            </p:nvSpPr>
            <p:spPr>
              <a:xfrm>
                <a:off x="285750" y="190500"/>
                <a:ext cx="36195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1">
                    <a:solidFill>
                      <a:srgbClr val="DEFF9A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20,640</a:t>
                </a:r>
                <a:endParaRPr sz="3200" b="1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0">
                    <a:solidFill>
                      <a:srgbClr val="F5F5F5"/>
                    </a:solidFill>
                    <a:latin typeface="Urbanist Medium"/>
                    <a:ea typeface="Urbanist Medium"/>
                    <a:cs typeface="Urbanist Medium"/>
                    <a:sym typeface="Urbanist Medium"/>
                  </a:rPr>
                  <a:t>Rows (no missing values)</a:t>
                </a:r>
                <a:endParaRPr sz="1400" b="0">
                  <a:solidFill>
                    <a:srgbClr val="F5F5F5"/>
                  </a:solidFill>
                  <a:latin typeface="Urbanist Medium"/>
                  <a:ea typeface="Urbanist Medium"/>
                  <a:cs typeface="Urbanist Medium"/>
                  <a:sym typeface="Urbanist Medium"/>
                </a:endParaRPr>
              </a:p>
            </p:txBody>
          </p:sp>
        </p:grpSp>
        <p:grpSp>
          <p:nvGrpSpPr>
            <p:cNvPr id="133" name="Google Shape;133;p15"/>
            <p:cNvGrpSpPr/>
            <p:nvPr/>
          </p:nvGrpSpPr>
          <p:grpSpPr>
            <a:xfrm>
              <a:off x="0" y="1428750"/>
              <a:ext cx="4191000" cy="1238400"/>
              <a:chOff x="0" y="0"/>
              <a:chExt cx="4191000" cy="1238400"/>
            </a:xfrm>
          </p:grpSpPr>
          <p:sp>
            <p:nvSpPr>
              <p:cNvPr id="134" name="Google Shape;134;p15"/>
              <p:cNvSpPr/>
              <p:nvPr/>
            </p:nvSpPr>
            <p:spPr>
              <a:xfrm>
                <a:off x="0" y="0"/>
                <a:ext cx="4191000" cy="1238400"/>
              </a:xfrm>
              <a:prstGeom prst="roundRect">
                <a:avLst>
                  <a:gd name="adj" fmla="val 15384"/>
                </a:avLst>
              </a:prstGeom>
              <a:solidFill>
                <a:srgbClr val="1A1A1A"/>
              </a:solidFill>
              <a:ln w="9525" cap="flat" cmpd="sng">
                <a:solidFill>
                  <a:srgbClr val="33333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15"/>
              <p:cNvSpPr txBox="1"/>
              <p:nvPr/>
            </p:nvSpPr>
            <p:spPr>
              <a:xfrm>
                <a:off x="285750" y="190500"/>
                <a:ext cx="36195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1">
                    <a:solidFill>
                      <a:srgbClr val="DEFF9A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8</a:t>
                </a:r>
                <a:endParaRPr sz="3200" b="1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0">
                    <a:solidFill>
                      <a:srgbClr val="F5F5F5"/>
                    </a:solidFill>
                    <a:latin typeface="Urbanist Medium"/>
                    <a:ea typeface="Urbanist Medium"/>
                    <a:cs typeface="Urbanist Medium"/>
                    <a:sym typeface="Urbanist Medium"/>
                  </a:rPr>
                  <a:t>Numeric features, 1 target</a:t>
                </a:r>
                <a:endParaRPr sz="1400" b="0">
                  <a:solidFill>
                    <a:srgbClr val="F5F5F5"/>
                  </a:solidFill>
                  <a:latin typeface="Urbanist Medium"/>
                  <a:ea typeface="Urbanist Medium"/>
                  <a:cs typeface="Urbanist Medium"/>
                  <a:sym typeface="Urbanist Medium"/>
                </a:endParaRPr>
              </a:p>
            </p:txBody>
          </p:sp>
        </p:grpSp>
        <p:grpSp>
          <p:nvGrpSpPr>
            <p:cNvPr id="136" name="Google Shape;136;p15"/>
            <p:cNvGrpSpPr/>
            <p:nvPr/>
          </p:nvGrpSpPr>
          <p:grpSpPr>
            <a:xfrm>
              <a:off x="0" y="2857500"/>
              <a:ext cx="4191000" cy="1238400"/>
              <a:chOff x="0" y="0"/>
              <a:chExt cx="4191000" cy="1238400"/>
            </a:xfrm>
          </p:grpSpPr>
          <p:sp>
            <p:nvSpPr>
              <p:cNvPr id="137" name="Google Shape;137;p15"/>
              <p:cNvSpPr/>
              <p:nvPr/>
            </p:nvSpPr>
            <p:spPr>
              <a:xfrm>
                <a:off x="0" y="0"/>
                <a:ext cx="4191000" cy="1238400"/>
              </a:xfrm>
              <a:prstGeom prst="roundRect">
                <a:avLst>
                  <a:gd name="adj" fmla="val 15384"/>
                </a:avLst>
              </a:prstGeom>
              <a:solidFill>
                <a:srgbClr val="1A1A1A"/>
              </a:solidFill>
              <a:ln w="9525" cap="flat" cmpd="sng">
                <a:solidFill>
                  <a:srgbClr val="33333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15"/>
              <p:cNvSpPr txBox="1"/>
              <p:nvPr/>
            </p:nvSpPr>
            <p:spPr>
              <a:xfrm>
                <a:off x="285750" y="190500"/>
                <a:ext cx="36195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1">
                    <a:solidFill>
                      <a:srgbClr val="DEFF9A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$14,999 – $500,011</a:t>
                </a:r>
                <a:endParaRPr sz="3200" b="1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0">
                    <a:solidFill>
                      <a:srgbClr val="F5F5F5"/>
                    </a:solidFill>
                    <a:latin typeface="Urbanist Medium"/>
                    <a:ea typeface="Urbanist Medium"/>
                    <a:cs typeface="Urbanist Medium"/>
                    <a:sym typeface="Urbanist Medium"/>
                  </a:rPr>
                  <a:t>Target value range</a:t>
                </a:r>
                <a:endParaRPr sz="1400" b="0">
                  <a:solidFill>
                    <a:srgbClr val="F5F5F5"/>
                  </a:solidFill>
                  <a:latin typeface="Urbanist Medium"/>
                  <a:ea typeface="Urbanist Medium"/>
                  <a:cs typeface="Urbanist Medium"/>
                  <a:sym typeface="Urbanist Medium"/>
                </a:endParaRPr>
              </a:p>
            </p:txBody>
          </p:sp>
        </p:grpSp>
      </p:grpSp>
      <p:grpSp>
        <p:nvGrpSpPr>
          <p:cNvPr id="139" name="Google Shape;139;p15"/>
          <p:cNvGrpSpPr/>
          <p:nvPr/>
        </p:nvGrpSpPr>
        <p:grpSpPr>
          <a:xfrm>
            <a:off x="762000" y="6286500"/>
            <a:ext cx="10668000" cy="428775"/>
            <a:chOff x="0" y="0"/>
            <a:chExt cx="10668000" cy="428775"/>
          </a:xfrm>
        </p:grpSpPr>
        <p:cxnSp>
          <p:nvCxnSpPr>
            <p:cNvPr id="140" name="Google Shape;140;p15"/>
            <p:cNvCxnSpPr/>
            <p:nvPr/>
          </p:nvCxnSpPr>
          <p:spPr>
            <a:xfrm>
              <a:off x="0" y="0"/>
              <a:ext cx="10668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333333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41" name="Google Shape;141;p15"/>
            <p:cNvSpPr txBox="1"/>
            <p:nvPr/>
          </p:nvSpPr>
          <p:spPr>
            <a:xfrm>
              <a:off x="0" y="142875"/>
              <a:ext cx="10668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>
                  <a:solidFill>
                    <a:srgbClr val="666666"/>
                  </a:solidFill>
                  <a:latin typeface="Urbanist"/>
                  <a:ea typeface="Urbanist"/>
                  <a:cs typeface="Urbanist"/>
                  <a:sym typeface="Urbanist"/>
                </a:rPr>
                <a:t>Harsh Kumar | California Housing Dataset • scikit-learn</a:t>
              </a:r>
              <a:endParaRPr sz="1000" b="0">
                <a:solidFill>
                  <a:srgbClr val="666666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33500"/>
            <a:ext cx="5286375" cy="49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333500"/>
            <a:ext cx="5286375" cy="49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571500" y="571500"/>
            <a:ext cx="116014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California Housing </a:t>
            </a:r>
            <a:r>
              <a:rPr lang="en-US" sz="30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Dataset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952500" y="3148012"/>
            <a:ext cx="47505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Demographics &amp; Geography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952500" y="3700462"/>
            <a:ext cx="452437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Features include Median Income, Population, Average Occupancy, Latitude, and Longitude based on the 1990 U.S. Census block groups.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6715125" y="3148012"/>
            <a:ext cx="47505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Property Attributes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6715125" y="3700462"/>
            <a:ext cx="452437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Features include House Age, Average Rooms, and Average Bedrooms. The core target variable analyzed is the Median House Value.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52712"/>
            <a:ext cx="3492549" cy="231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652712"/>
            <a:ext cx="3492549" cy="231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652712"/>
            <a:ext cx="3492549" cy="231457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571500" y="571500"/>
            <a:ext cx="116014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Exploratory </a:t>
            </a:r>
            <a:r>
              <a:rPr lang="en-US" sz="30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Data Analysis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857250" y="3652837"/>
            <a:ext cx="2921049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Examined dataset structure, checked for missing values, and ensured overall data consistency across 20,640 instances.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4635549" y="3652837"/>
            <a:ext cx="2921049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Generated correlation heatmaps to identify relationships. Revealed strong correlations, such as Median Income vs Price (0.68).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8413849" y="3652837"/>
            <a:ext cx="2921049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Visualized data distributions and patterns using histograms, boxplots, and scatter plots to heavily guide feature engineering.</a:t>
            </a:r>
            <a:endParaRPr/>
          </a:p>
        </p:txBody>
      </p:sp>
      <p:pic>
        <p:nvPicPr>
          <p:cNvPr id="166" name="Google Shape;166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254424" y="2938462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032724" y="2938462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811023" y="2938462"/>
            <a:ext cx="5238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/>
          <p:nvPr/>
        </p:nvSpPr>
        <p:spPr>
          <a:xfrm>
            <a:off x="857250" y="3028950"/>
            <a:ext cx="942975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Structure</a:t>
            </a:r>
            <a:endParaRPr sz="1700" dirty="0"/>
          </a:p>
        </p:txBody>
      </p:sp>
      <p:pic>
        <p:nvPicPr>
          <p:cNvPr id="170" name="Google Shape;170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02062" y="30861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7"/>
          <p:cNvSpPr txBox="1"/>
          <p:nvPr/>
        </p:nvSpPr>
        <p:spPr>
          <a:xfrm>
            <a:off x="4635549" y="3028950"/>
            <a:ext cx="1209675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Correlations</a:t>
            </a:r>
            <a:endParaRPr sz="1700" dirty="0"/>
          </a:p>
        </p:txBody>
      </p:sp>
      <p:pic>
        <p:nvPicPr>
          <p:cNvPr id="172" name="Google Shape;172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166074" y="3086100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7"/>
          <p:cNvSpPr txBox="1"/>
          <p:nvPr/>
        </p:nvSpPr>
        <p:spPr>
          <a:xfrm>
            <a:off x="8413849" y="3028950"/>
            <a:ext cx="135255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Visualizations</a:t>
            </a:r>
            <a:endParaRPr sz="1700" dirty="0"/>
          </a:p>
        </p:txBody>
      </p:sp>
      <p:pic>
        <p:nvPicPr>
          <p:cNvPr id="174" name="Google Shape;174;p1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958661" y="3086100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11887200" cy="5800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1" name="Google Shape;181;p18"/>
          <p:cNvGrpSpPr/>
          <p:nvPr/>
        </p:nvGrpSpPr>
        <p:grpSpPr>
          <a:xfrm>
            <a:off x="571500" y="571500"/>
            <a:ext cx="11049000" cy="1238250"/>
            <a:chOff x="0" y="0"/>
            <a:chExt cx="11049000" cy="1238250"/>
          </a:xfrm>
        </p:grpSpPr>
        <p:sp>
          <p:nvSpPr>
            <p:cNvPr id="182" name="Google Shape;182;p18"/>
            <p:cNvSpPr txBox="1"/>
            <p:nvPr/>
          </p:nvSpPr>
          <p:spPr>
            <a:xfrm>
              <a:off x="0" y="0"/>
              <a:ext cx="11049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0">
                  <a:solidFill>
                    <a:srgbClr val="F5F5F5"/>
                  </a:solidFill>
                  <a:latin typeface="Urbanist Medium"/>
                  <a:ea typeface="Urbanist Medium"/>
                  <a:cs typeface="Urbanist Medium"/>
                  <a:sym typeface="Urbanist Medium"/>
                </a:rPr>
                <a:t>Correlation </a:t>
              </a:r>
              <a:r>
                <a:rPr lang="en-US" sz="3200" b="0">
                  <a:solidFill>
                    <a:srgbClr val="DEFF9A"/>
                  </a:solidFill>
                  <a:latin typeface="Urbanist Medium"/>
                  <a:ea typeface="Urbanist Medium"/>
                  <a:cs typeface="Urbanist Medium"/>
                  <a:sym typeface="Urbanist Medium"/>
                </a:rPr>
                <a:t>Insights</a:t>
              </a:r>
              <a:endParaRPr sz="3200" b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endParaRPr>
            </a:p>
          </p:txBody>
        </p:sp>
        <p:sp>
          <p:nvSpPr>
            <p:cNvPr id="183" name="Google Shape;183;p18"/>
            <p:cNvSpPr txBox="1"/>
            <p:nvPr/>
          </p:nvSpPr>
          <p:spPr>
            <a:xfrm>
              <a:off x="0" y="666750"/>
              <a:ext cx="7620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A correlation matrix across all features surfaced three relationships that shaped every later decision — from which feature matters most to why two of them needed close attention during modeling.</a:t>
              </a:r>
              <a:endParaRPr sz="1350" b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184" name="Google Shape;184;p18"/>
          <p:cNvGrpSpPr/>
          <p:nvPr/>
        </p:nvGrpSpPr>
        <p:grpSpPr>
          <a:xfrm>
            <a:off x="571500" y="2286000"/>
            <a:ext cx="3429000" cy="3429000"/>
            <a:chOff x="0" y="0"/>
            <a:chExt cx="3429000" cy="3429000"/>
          </a:xfrm>
        </p:grpSpPr>
        <p:sp>
          <p:nvSpPr>
            <p:cNvPr id="185" name="Google Shape;185;p18"/>
            <p:cNvSpPr/>
            <p:nvPr/>
          </p:nvSpPr>
          <p:spPr>
            <a:xfrm>
              <a:off x="0" y="0"/>
              <a:ext cx="3429000" cy="3429000"/>
            </a:xfrm>
            <a:prstGeom prst="roundRect">
              <a:avLst>
                <a:gd name="adj" fmla="val 5555"/>
              </a:avLst>
            </a:prstGeom>
            <a:solidFill>
              <a:srgbClr val="1A1A1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8"/>
            <p:cNvSpPr txBox="1"/>
            <p:nvPr/>
          </p:nvSpPr>
          <p:spPr>
            <a:xfrm>
              <a:off x="285749" y="332486"/>
              <a:ext cx="1369483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dirty="0">
                  <a:solidFill>
                    <a:srgbClr val="DEFF9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insights</a:t>
              </a:r>
              <a:endParaRPr sz="3000" dirty="0">
                <a:solidFill>
                  <a:srgbClr val="DEFF9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87" name="Google Shape;187;p18"/>
            <p:cNvSpPr txBox="1"/>
            <p:nvPr/>
          </p:nvSpPr>
          <p:spPr>
            <a:xfrm>
              <a:off x="285750" y="952500"/>
              <a:ext cx="285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+0.688</a:t>
              </a:r>
              <a:endParaRPr sz="4800" b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88" name="Google Shape;188;p18"/>
            <p:cNvSpPr txBox="1"/>
            <p:nvPr/>
          </p:nvSpPr>
          <p:spPr>
            <a:xfrm>
              <a:off x="285750" y="1809750"/>
              <a:ext cx="285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>
                  <a:solidFill>
                    <a:srgbClr val="DEFF9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MedInc ↔ Price</a:t>
              </a:r>
              <a:endParaRPr sz="1800" b="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sp>
          <p:nvSpPr>
            <p:cNvPr id="189" name="Google Shape;189;p18"/>
            <p:cNvSpPr txBox="1"/>
            <p:nvPr/>
          </p:nvSpPr>
          <p:spPr>
            <a:xfrm>
              <a:off x="285750" y="2286000"/>
              <a:ext cx="2857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Median income is the strongest single predictor of house value in the dataset.</a:t>
              </a:r>
              <a:endParaRPr sz="1350" b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190" name="Google Shape;190;p18"/>
          <p:cNvGrpSpPr/>
          <p:nvPr/>
        </p:nvGrpSpPr>
        <p:grpSpPr>
          <a:xfrm>
            <a:off x="4381500" y="2286000"/>
            <a:ext cx="3429000" cy="3429000"/>
            <a:chOff x="0" y="0"/>
            <a:chExt cx="3429000" cy="3429000"/>
          </a:xfrm>
        </p:grpSpPr>
        <p:sp>
          <p:nvSpPr>
            <p:cNvPr id="191" name="Google Shape;191;p18"/>
            <p:cNvSpPr/>
            <p:nvPr/>
          </p:nvSpPr>
          <p:spPr>
            <a:xfrm>
              <a:off x="0" y="0"/>
              <a:ext cx="3429000" cy="3429000"/>
            </a:xfrm>
            <a:prstGeom prst="roundRect">
              <a:avLst>
                <a:gd name="adj" fmla="val 5555"/>
              </a:avLst>
            </a:prstGeom>
            <a:solidFill>
              <a:srgbClr val="1A1A1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8"/>
            <p:cNvSpPr txBox="1"/>
            <p:nvPr/>
          </p:nvSpPr>
          <p:spPr>
            <a:xfrm>
              <a:off x="285749" y="332486"/>
              <a:ext cx="2512483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dirty="0" err="1">
                  <a:solidFill>
                    <a:srgbClr val="DEFF9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account_tree</a:t>
              </a:r>
              <a:endParaRPr sz="3000" dirty="0">
                <a:solidFill>
                  <a:srgbClr val="DEFF9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93" name="Google Shape;193;p18"/>
            <p:cNvSpPr txBox="1"/>
            <p:nvPr/>
          </p:nvSpPr>
          <p:spPr>
            <a:xfrm>
              <a:off x="285750" y="952500"/>
              <a:ext cx="285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+0.848</a:t>
              </a:r>
              <a:endParaRPr sz="4800" b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94" name="Google Shape;194;p18"/>
            <p:cNvSpPr txBox="1"/>
            <p:nvPr/>
          </p:nvSpPr>
          <p:spPr>
            <a:xfrm>
              <a:off x="285750" y="1809750"/>
              <a:ext cx="285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>
                  <a:solidFill>
                    <a:srgbClr val="DEFF9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AveRooms ↔ AveBedrms</a:t>
              </a:r>
              <a:endParaRPr sz="1800" b="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sp>
          <p:nvSpPr>
            <p:cNvPr id="195" name="Google Shape;195;p18"/>
            <p:cNvSpPr txBox="1"/>
            <p:nvPr/>
          </p:nvSpPr>
          <p:spPr>
            <a:xfrm>
              <a:off x="285750" y="2286000"/>
              <a:ext cx="2857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Rooms and bedrooms move together — an early flag for multicollinearity.</a:t>
              </a:r>
              <a:endParaRPr sz="1350" b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196" name="Google Shape;196;p18"/>
          <p:cNvGrpSpPr/>
          <p:nvPr/>
        </p:nvGrpSpPr>
        <p:grpSpPr>
          <a:xfrm>
            <a:off x="8191500" y="2286000"/>
            <a:ext cx="3429000" cy="3429000"/>
            <a:chOff x="0" y="0"/>
            <a:chExt cx="3429000" cy="3429000"/>
          </a:xfrm>
        </p:grpSpPr>
        <p:sp>
          <p:nvSpPr>
            <p:cNvPr id="197" name="Google Shape;197;p18"/>
            <p:cNvSpPr/>
            <p:nvPr/>
          </p:nvSpPr>
          <p:spPr>
            <a:xfrm>
              <a:off x="0" y="0"/>
              <a:ext cx="3429000" cy="3429000"/>
            </a:xfrm>
            <a:prstGeom prst="roundRect">
              <a:avLst>
                <a:gd name="adj" fmla="val 5555"/>
              </a:avLst>
            </a:prstGeom>
            <a:solidFill>
              <a:srgbClr val="1A1A1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8"/>
            <p:cNvSpPr txBox="1"/>
            <p:nvPr/>
          </p:nvSpPr>
          <p:spPr>
            <a:xfrm>
              <a:off x="285749" y="332486"/>
              <a:ext cx="1361017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dirty="0">
                  <a:solidFill>
                    <a:srgbClr val="FF9A9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warning</a:t>
              </a:r>
              <a:endParaRPr sz="3000" dirty="0">
                <a:solidFill>
                  <a:srgbClr val="FF9A9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99" name="Google Shape;199;p18"/>
            <p:cNvSpPr txBox="1"/>
            <p:nvPr/>
          </p:nvSpPr>
          <p:spPr>
            <a:xfrm>
              <a:off x="285750" y="952500"/>
              <a:ext cx="285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-0.925</a:t>
              </a:r>
              <a:endParaRPr sz="4800" b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00" name="Google Shape;200;p18"/>
            <p:cNvSpPr txBox="1"/>
            <p:nvPr/>
          </p:nvSpPr>
          <p:spPr>
            <a:xfrm>
              <a:off x="285750" y="1809750"/>
              <a:ext cx="285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>
                  <a:solidFill>
                    <a:srgbClr val="FF9A9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Latitude ↔ Longitude</a:t>
              </a:r>
              <a:endParaRPr sz="1800" b="0">
                <a:solidFill>
                  <a:srgbClr val="FF9A9A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sp>
          <p:nvSpPr>
            <p:cNvPr id="201" name="Google Shape;201;p18"/>
            <p:cNvSpPr txBox="1"/>
            <p:nvPr/>
          </p:nvSpPr>
          <p:spPr>
            <a:xfrm>
              <a:off x="285750" y="2286000"/>
              <a:ext cx="2857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Near-perfect negative correlation, expected for geographic coordinates, later confirmed via VIF.</a:t>
              </a:r>
              <a:endParaRPr sz="1350" b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9"/>
          <p:cNvSpPr txBox="1"/>
          <p:nvPr/>
        </p:nvSpPr>
        <p:spPr>
          <a:xfrm>
            <a:off x="571500" y="476250"/>
            <a:ext cx="1104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Outlier </a:t>
            </a:r>
            <a:r>
              <a:rPr lang="en-US" sz="3600" b="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Detection</a:t>
            </a:r>
            <a:endParaRPr sz="3600" b="0">
              <a:solidFill>
                <a:srgbClr val="F5F5F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marL="0" lvl="0" indent="0" algn="l" rtl="0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Boxplots revealed heavy-tailed distributions in Population and AveOccup, identifying extreme outliers in specific block groups.</a:t>
            </a:r>
            <a:endParaRPr sz="1400" b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208" name="Google Shape;208;p19"/>
          <p:cNvGrpSpPr/>
          <p:nvPr/>
        </p:nvGrpSpPr>
        <p:grpSpPr>
          <a:xfrm>
            <a:off x="571500" y="1905000"/>
            <a:ext cx="6096000" cy="4381500"/>
            <a:chOff x="0" y="0"/>
            <a:chExt cx="6096000" cy="4381500"/>
          </a:xfrm>
        </p:grpSpPr>
        <p:sp>
          <p:nvSpPr>
            <p:cNvPr id="209" name="Google Shape;209;p19"/>
            <p:cNvSpPr/>
            <p:nvPr/>
          </p:nvSpPr>
          <p:spPr>
            <a:xfrm>
              <a:off x="0" y="0"/>
              <a:ext cx="6096000" cy="4381500"/>
            </a:xfrm>
            <a:prstGeom prst="roundRect">
              <a:avLst>
                <a:gd name="adj" fmla="val 4347"/>
              </a:avLst>
            </a:prstGeom>
            <a:solidFill>
              <a:srgbClr val="1A1A1A">
                <a:alpha val="6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10" name="Google Shape;210;p19"/>
            <p:cNvPicPr preferRelativeResize="0"/>
            <p:nvPr/>
          </p:nvPicPr>
          <p:blipFill rotWithShape="1">
            <a:blip r:embed="rId4">
              <a:alphaModFix/>
            </a:blip>
            <a:srcRect t="8781" b="8772"/>
            <a:stretch/>
          </p:blipFill>
          <p:spPr>
            <a:xfrm>
              <a:off x="190500" y="190500"/>
              <a:ext cx="5715000" cy="4000500"/>
            </a:xfrm>
            <a:prstGeom prst="roundRect">
              <a:avLst>
                <a:gd name="adj" fmla="val 2380"/>
              </a:avLst>
            </a:prstGeom>
            <a:noFill/>
            <a:ln>
              <a:noFill/>
            </a:ln>
          </p:spPr>
        </p:pic>
      </p:grpSp>
      <p:grpSp>
        <p:nvGrpSpPr>
          <p:cNvPr id="211" name="Google Shape;211;p19"/>
          <p:cNvGrpSpPr/>
          <p:nvPr/>
        </p:nvGrpSpPr>
        <p:grpSpPr>
          <a:xfrm>
            <a:off x="6953250" y="1905000"/>
            <a:ext cx="4667400" cy="1285800"/>
            <a:chOff x="0" y="0"/>
            <a:chExt cx="4667400" cy="1285800"/>
          </a:xfrm>
        </p:grpSpPr>
        <p:sp>
          <p:nvSpPr>
            <p:cNvPr id="212" name="Google Shape;212;p19"/>
            <p:cNvSpPr/>
            <p:nvPr/>
          </p:nvSpPr>
          <p:spPr>
            <a:xfrm>
              <a:off x="0" y="0"/>
              <a:ext cx="4667400" cy="1285800"/>
            </a:xfrm>
            <a:prstGeom prst="roundRect">
              <a:avLst>
                <a:gd name="adj" fmla="val 11111"/>
              </a:avLst>
            </a:prstGeom>
            <a:solidFill>
              <a:srgbClr val="1A1A1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19"/>
            <p:cNvSpPr txBox="1"/>
            <p:nvPr/>
          </p:nvSpPr>
          <p:spPr>
            <a:xfrm>
              <a:off x="0" y="0"/>
              <a:ext cx="46674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38125" tIns="238125" rIns="238125" bIns="2381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DEFF9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groups</a:t>
              </a:r>
              <a:r>
                <a:rPr lang="en-US" sz="1600" b="0">
                  <a:solidFill>
                    <a:srgbClr val="DEFF9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Population Extremes</a:t>
              </a:r>
              <a:endParaRPr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Population reaches as high as </a:t>
              </a:r>
              <a:r>
                <a:rPr lang="en-US" sz="1300" b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35,682</a:t>
              </a:r>
              <a:r>
                <a:rPr lang="en-US" sz="1300" b="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 in a single block group, versus a median of </a:t>
              </a:r>
              <a:r>
                <a:rPr lang="en-US" sz="1300" b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1,166</a:t>
              </a:r>
              <a:r>
                <a:rPr lang="en-US" sz="1300" b="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.</a:t>
              </a:r>
              <a:endParaRPr sz="1300" b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214" name="Google Shape;214;p19"/>
          <p:cNvGrpSpPr/>
          <p:nvPr/>
        </p:nvGrpSpPr>
        <p:grpSpPr>
          <a:xfrm>
            <a:off x="6953250" y="3381375"/>
            <a:ext cx="4667400" cy="1285800"/>
            <a:chOff x="0" y="0"/>
            <a:chExt cx="4667400" cy="1285800"/>
          </a:xfrm>
        </p:grpSpPr>
        <p:sp>
          <p:nvSpPr>
            <p:cNvPr id="215" name="Google Shape;215;p19"/>
            <p:cNvSpPr/>
            <p:nvPr/>
          </p:nvSpPr>
          <p:spPr>
            <a:xfrm>
              <a:off x="0" y="0"/>
              <a:ext cx="4667400" cy="1285800"/>
            </a:xfrm>
            <a:prstGeom prst="roundRect">
              <a:avLst>
                <a:gd name="adj" fmla="val 11111"/>
              </a:avLst>
            </a:prstGeom>
            <a:solidFill>
              <a:srgbClr val="1A1A1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9"/>
            <p:cNvSpPr txBox="1"/>
            <p:nvPr/>
          </p:nvSpPr>
          <p:spPr>
            <a:xfrm>
              <a:off x="0" y="0"/>
              <a:ext cx="46674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38125" tIns="238125" rIns="238125" bIns="2381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DEFF9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house</a:t>
              </a:r>
              <a:r>
                <a:rPr lang="en-US" sz="1600" b="0">
                  <a:solidFill>
                    <a:srgbClr val="DEFF9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Occupancy Clusters</a:t>
              </a:r>
              <a:endParaRPr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AveOccup contains a small cluster of extreme values (</a:t>
              </a:r>
              <a:r>
                <a:rPr lang="en-US" sz="1300" b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up to 1,243</a:t>
              </a:r>
              <a:r>
                <a:rPr lang="en-US" sz="1300" b="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), far outside the typical 2–3 person range.</a:t>
              </a:r>
              <a:endParaRPr sz="1300" b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217" name="Google Shape;217;p19"/>
          <p:cNvGrpSpPr/>
          <p:nvPr/>
        </p:nvGrpSpPr>
        <p:grpSpPr>
          <a:xfrm>
            <a:off x="6953250" y="4857750"/>
            <a:ext cx="4667400" cy="1428900"/>
            <a:chOff x="0" y="0"/>
            <a:chExt cx="4667400" cy="1428900"/>
          </a:xfrm>
        </p:grpSpPr>
        <p:sp>
          <p:nvSpPr>
            <p:cNvPr id="218" name="Google Shape;218;p19"/>
            <p:cNvSpPr/>
            <p:nvPr/>
          </p:nvSpPr>
          <p:spPr>
            <a:xfrm>
              <a:off x="0" y="0"/>
              <a:ext cx="4667400" cy="1428900"/>
            </a:xfrm>
            <a:prstGeom prst="roundRect">
              <a:avLst>
                <a:gd name="adj" fmla="val 10000"/>
              </a:avLst>
            </a:prstGeom>
            <a:solidFill>
              <a:srgbClr val="1A1A1A"/>
            </a:solidFill>
            <a:ln w="19050" cap="flat" cmpd="sng">
              <a:solidFill>
                <a:srgbClr val="DEFF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9"/>
            <p:cNvSpPr txBox="1"/>
            <p:nvPr/>
          </p:nvSpPr>
          <p:spPr>
            <a:xfrm>
              <a:off x="0" y="0"/>
              <a:ext cx="4667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38125" tIns="238125" rIns="238125" bIns="2381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DEFF9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height</a:t>
              </a:r>
              <a:r>
                <a:rPr lang="en-US" sz="1600" b="0">
                  <a:solidFill>
                    <a:srgbClr val="DEFF9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Mitigation Strategy</a:t>
              </a:r>
              <a:endParaRPr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DEFF9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StandardScaler</a:t>
              </a:r>
              <a:r>
                <a:rPr lang="en-US" sz="1300" b="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 was applied rather than outlier removal, preserving real-world variance while normalizing feature scale.</a:t>
              </a:r>
              <a:endParaRPr sz="1300" b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/>
        </p:nvSpPr>
        <p:spPr>
          <a:xfrm>
            <a:off x="571500" y="571500"/>
            <a:ext cx="11049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Data </a:t>
            </a:r>
            <a:r>
              <a:rPr lang="en-US" sz="3200" b="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Preprocessing</a:t>
            </a:r>
            <a:endParaRPr sz="3200" b="0">
              <a:solidFill>
                <a:srgbClr val="F5F5F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pic>
        <p:nvPicPr>
          <p:cNvPr id="226" name="Google Shape;226;p20"/>
          <p:cNvPicPr preferRelativeResize="0"/>
          <p:nvPr/>
        </p:nvPicPr>
        <p:blipFill rotWithShape="1">
          <a:blip r:embed="rId5">
            <a:alphaModFix/>
          </a:blip>
          <a:srcRect l="20" r="20"/>
          <a:stretch/>
        </p:blipFill>
        <p:spPr>
          <a:xfrm>
            <a:off x="571500" y="1428750"/>
            <a:ext cx="4953000" cy="2819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7" name="Google Shape;227;p20"/>
          <p:cNvGrpSpPr/>
          <p:nvPr/>
        </p:nvGrpSpPr>
        <p:grpSpPr>
          <a:xfrm>
            <a:off x="5857875" y="1428750"/>
            <a:ext cx="5953125" cy="2809800"/>
            <a:chOff x="0" y="0"/>
            <a:chExt cx="5953125" cy="2809800"/>
          </a:xfrm>
        </p:grpSpPr>
        <p:grpSp>
          <p:nvGrpSpPr>
            <p:cNvPr id="228" name="Google Shape;228;p20"/>
            <p:cNvGrpSpPr/>
            <p:nvPr/>
          </p:nvGrpSpPr>
          <p:grpSpPr>
            <a:xfrm>
              <a:off x="0" y="0"/>
              <a:ext cx="2857500" cy="1285800"/>
              <a:chOff x="0" y="0"/>
              <a:chExt cx="2857500" cy="1285800"/>
            </a:xfrm>
          </p:grpSpPr>
          <p:sp>
            <p:nvSpPr>
              <p:cNvPr id="229" name="Google Shape;229;p20"/>
              <p:cNvSpPr/>
              <p:nvPr/>
            </p:nvSpPr>
            <p:spPr>
              <a:xfrm>
                <a:off x="0" y="0"/>
                <a:ext cx="2857500" cy="1285800"/>
              </a:xfrm>
              <a:prstGeom prst="roundRect">
                <a:avLst>
                  <a:gd name="adj" fmla="val 11111"/>
                </a:avLst>
              </a:prstGeom>
              <a:solidFill>
                <a:srgbClr val="1A1A1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20"/>
              <p:cNvSpPr txBox="1"/>
              <p:nvPr/>
            </p:nvSpPr>
            <p:spPr>
              <a:xfrm>
                <a:off x="0" y="0"/>
                <a:ext cx="2857500" cy="12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0" tIns="190500" rIns="190500" bIns="1905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DEFF9A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filter_list</a:t>
                </a:r>
                <a:endParaRPr sz="2400">
                  <a:solidFill>
                    <a:srgbClr val="DEFF9A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marL="0" lvl="0" indent="0" algn="l" rtl="0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300" b="0">
                    <a:solidFill>
                      <a:srgbClr val="DAFFDE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Selected relevant input features and isolated the target variable for accurate modeling.</a:t>
                </a:r>
                <a:endParaRPr sz="1300" b="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  <p:grpSp>
          <p:nvGrpSpPr>
            <p:cNvPr id="231" name="Google Shape;231;p20"/>
            <p:cNvGrpSpPr/>
            <p:nvPr/>
          </p:nvGrpSpPr>
          <p:grpSpPr>
            <a:xfrm>
              <a:off x="3095625" y="0"/>
              <a:ext cx="2857500" cy="1285800"/>
              <a:chOff x="0" y="0"/>
              <a:chExt cx="2857500" cy="1285800"/>
            </a:xfrm>
          </p:grpSpPr>
          <p:sp>
            <p:nvSpPr>
              <p:cNvPr id="232" name="Google Shape;232;p20"/>
              <p:cNvSpPr/>
              <p:nvPr/>
            </p:nvSpPr>
            <p:spPr>
              <a:xfrm>
                <a:off x="0" y="0"/>
                <a:ext cx="2857500" cy="1285800"/>
              </a:xfrm>
              <a:prstGeom prst="roundRect">
                <a:avLst>
                  <a:gd name="adj" fmla="val 11111"/>
                </a:avLst>
              </a:prstGeom>
              <a:solidFill>
                <a:srgbClr val="1A1A1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20"/>
              <p:cNvSpPr txBox="1"/>
              <p:nvPr/>
            </p:nvSpPr>
            <p:spPr>
              <a:xfrm>
                <a:off x="0" y="0"/>
                <a:ext cx="2857500" cy="12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0" tIns="190500" rIns="190500" bIns="1905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DEFF9A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call_split</a:t>
                </a:r>
                <a:endParaRPr sz="2400">
                  <a:solidFill>
                    <a:srgbClr val="DEFF9A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marL="0" lvl="0" indent="0" algn="l" rtl="0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300" b="0">
                    <a:solidFill>
                      <a:srgbClr val="DAFFDE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Split the dataset into dedicated training and testing sets to evaluate generalization.</a:t>
                </a:r>
                <a:endParaRPr sz="1300" b="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  <p:grpSp>
          <p:nvGrpSpPr>
            <p:cNvPr id="234" name="Google Shape;234;p20"/>
            <p:cNvGrpSpPr/>
            <p:nvPr/>
          </p:nvGrpSpPr>
          <p:grpSpPr>
            <a:xfrm>
              <a:off x="0" y="1524000"/>
              <a:ext cx="2857500" cy="1285800"/>
              <a:chOff x="0" y="0"/>
              <a:chExt cx="2857500" cy="1285800"/>
            </a:xfrm>
          </p:grpSpPr>
          <p:sp>
            <p:nvSpPr>
              <p:cNvPr id="235" name="Google Shape;235;p20"/>
              <p:cNvSpPr/>
              <p:nvPr/>
            </p:nvSpPr>
            <p:spPr>
              <a:xfrm>
                <a:off x="0" y="0"/>
                <a:ext cx="2857500" cy="1285800"/>
              </a:xfrm>
              <a:prstGeom prst="roundRect">
                <a:avLst>
                  <a:gd name="adj" fmla="val 11111"/>
                </a:avLst>
              </a:prstGeom>
              <a:solidFill>
                <a:srgbClr val="1A1A1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20"/>
              <p:cNvSpPr txBox="1"/>
              <p:nvPr/>
            </p:nvSpPr>
            <p:spPr>
              <a:xfrm>
                <a:off x="0" y="0"/>
                <a:ext cx="2857500" cy="12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0" tIns="190500" rIns="190500" bIns="1905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DEFF9A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height</a:t>
                </a:r>
                <a:endParaRPr sz="2400">
                  <a:solidFill>
                    <a:srgbClr val="DEFF9A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marL="0" lvl="0" indent="0" algn="l" rtl="0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300" b="0">
                    <a:solidFill>
                      <a:srgbClr val="DAFFDE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Applied feature scaling using StandardScaler to normalize feature value ranges.</a:t>
                </a:r>
                <a:endParaRPr sz="1300" b="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  <p:grpSp>
          <p:nvGrpSpPr>
            <p:cNvPr id="237" name="Google Shape;237;p20"/>
            <p:cNvGrpSpPr/>
            <p:nvPr/>
          </p:nvGrpSpPr>
          <p:grpSpPr>
            <a:xfrm>
              <a:off x="3095625" y="1524000"/>
              <a:ext cx="2857500" cy="1285800"/>
              <a:chOff x="0" y="0"/>
              <a:chExt cx="2857500" cy="1285800"/>
            </a:xfrm>
          </p:grpSpPr>
          <p:sp>
            <p:nvSpPr>
              <p:cNvPr id="238" name="Google Shape;238;p20"/>
              <p:cNvSpPr/>
              <p:nvPr/>
            </p:nvSpPr>
            <p:spPr>
              <a:xfrm>
                <a:off x="0" y="0"/>
                <a:ext cx="2857500" cy="1285800"/>
              </a:xfrm>
              <a:prstGeom prst="roundRect">
                <a:avLst>
                  <a:gd name="adj" fmla="val 11111"/>
                </a:avLst>
              </a:prstGeom>
              <a:solidFill>
                <a:srgbClr val="1A1A1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20"/>
              <p:cNvSpPr txBox="1"/>
              <p:nvPr/>
            </p:nvSpPr>
            <p:spPr>
              <a:xfrm>
                <a:off x="0" y="0"/>
                <a:ext cx="2857500" cy="12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0" tIns="190500" rIns="190500" bIns="1905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DEFF9A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trending_up</a:t>
                </a:r>
                <a:endParaRPr sz="2400">
                  <a:solidFill>
                    <a:srgbClr val="DEFF9A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marL="0" lvl="0" indent="0" algn="l" rtl="0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300" b="0">
                    <a:solidFill>
                      <a:srgbClr val="DAFFDE"/>
                    </a:solidFill>
                    <a:latin typeface="Urbanist Medium"/>
                    <a:ea typeface="Urbanist Medium"/>
                    <a:cs typeface="Urbanist Medium"/>
                    <a:sym typeface="Urbanist Medium"/>
                  </a:rPr>
                  <a:t>Scaling significantly improved model stability and training effectiveness.</a:t>
                </a:r>
                <a:endParaRPr sz="1300" b="0">
                  <a:solidFill>
                    <a:srgbClr val="DAFFDE"/>
                  </a:solidFill>
                  <a:latin typeface="Urbanist Medium"/>
                  <a:ea typeface="Urbanist Medium"/>
                  <a:cs typeface="Urbanist Medium"/>
                  <a:sym typeface="Urbanist Medium"/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1"/>
          <p:cNvSpPr txBox="1"/>
          <p:nvPr/>
        </p:nvSpPr>
        <p:spPr>
          <a:xfrm>
            <a:off x="571500" y="476250"/>
            <a:ext cx="110490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Linear Regression</a:t>
            </a:r>
            <a:endParaRPr sz="1400" b="0">
              <a:solidFill>
                <a:srgbClr val="DEFF9A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sz="3600" b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Model Performance on </a:t>
            </a:r>
            <a:r>
              <a:rPr lang="en-US" sz="3600" b="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Test Data</a:t>
            </a:r>
            <a:endParaRPr sz="3600" b="0">
              <a:solidFill>
                <a:srgbClr val="F5F5F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grpSp>
        <p:nvGrpSpPr>
          <p:cNvPr id="245" name="Google Shape;245;p21"/>
          <p:cNvGrpSpPr/>
          <p:nvPr/>
        </p:nvGrpSpPr>
        <p:grpSpPr>
          <a:xfrm>
            <a:off x="571500" y="1905000"/>
            <a:ext cx="11048925" cy="1714500"/>
            <a:chOff x="0" y="0"/>
            <a:chExt cx="11048925" cy="1714500"/>
          </a:xfrm>
        </p:grpSpPr>
        <p:grpSp>
          <p:nvGrpSpPr>
            <p:cNvPr id="246" name="Google Shape;246;p21"/>
            <p:cNvGrpSpPr/>
            <p:nvPr/>
          </p:nvGrpSpPr>
          <p:grpSpPr>
            <a:xfrm>
              <a:off x="0" y="0"/>
              <a:ext cx="2619300" cy="1714500"/>
              <a:chOff x="0" y="0"/>
              <a:chExt cx="2619300" cy="1714500"/>
            </a:xfrm>
          </p:grpSpPr>
          <p:sp>
            <p:nvSpPr>
              <p:cNvPr id="247" name="Google Shape;247;p21"/>
              <p:cNvSpPr/>
              <p:nvPr/>
            </p:nvSpPr>
            <p:spPr>
              <a:xfrm>
                <a:off x="0" y="0"/>
                <a:ext cx="2619300" cy="1714500"/>
              </a:xfrm>
              <a:prstGeom prst="roundRect">
                <a:avLst>
                  <a:gd name="adj" fmla="val 8888"/>
                </a:avLst>
              </a:prstGeom>
              <a:solidFill>
                <a:srgbClr val="1A1A1A"/>
              </a:solidFill>
              <a:ln w="19050" cap="flat" cmpd="sng">
                <a:solidFill>
                  <a:srgbClr val="DEFF9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21"/>
              <p:cNvSpPr txBox="1"/>
              <p:nvPr/>
            </p:nvSpPr>
            <p:spPr>
              <a:xfrm>
                <a:off x="0" y="0"/>
                <a:ext cx="26193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0" tIns="190500" rIns="190500" bIns="1905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0">
                    <a:solidFill>
                      <a:srgbClr val="DAFFDE"/>
                    </a:solidFill>
                    <a:latin typeface="Urbanist Medium"/>
                    <a:ea typeface="Urbanist Medium"/>
                    <a:cs typeface="Urbanist Medium"/>
                    <a:sym typeface="Urbanist Medium"/>
                  </a:rPr>
                  <a:t>R² SCORE</a:t>
                </a:r>
                <a:endParaRPr sz="1200" b="0">
                  <a:solidFill>
                    <a:srgbClr val="DAFFDE"/>
                  </a:solidFill>
                  <a:latin typeface="Urbanist Medium"/>
                  <a:ea typeface="Urbanist Medium"/>
                  <a:cs typeface="Urbanist Medium"/>
                  <a:sym typeface="Urbanist Medium"/>
                </a:endParaRPr>
              </a:p>
              <a:p>
                <a:pPr marL="0" lvl="0" indent="0" algn="ctr" rtl="0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en-US" sz="3200" b="1">
                    <a:solidFill>
                      <a:srgbClr val="DEFF9A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0.5958</a:t>
                </a:r>
                <a:endParaRPr sz="3200" b="1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marL="0" lvl="0" indent="0" algn="ctr" rtl="0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rgbClr val="888888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~60% of price variance explained</a:t>
                </a:r>
                <a:endParaRPr sz="1000">
                  <a:solidFill>
                    <a:srgbClr val="888888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  <p:grpSp>
          <p:nvGrpSpPr>
            <p:cNvPr id="249" name="Google Shape;249;p21"/>
            <p:cNvGrpSpPr/>
            <p:nvPr/>
          </p:nvGrpSpPr>
          <p:grpSpPr>
            <a:xfrm>
              <a:off x="2809875" y="0"/>
              <a:ext cx="2619300" cy="1714500"/>
              <a:chOff x="0" y="0"/>
              <a:chExt cx="2619300" cy="1714500"/>
            </a:xfrm>
          </p:grpSpPr>
          <p:sp>
            <p:nvSpPr>
              <p:cNvPr id="250" name="Google Shape;250;p21"/>
              <p:cNvSpPr/>
              <p:nvPr/>
            </p:nvSpPr>
            <p:spPr>
              <a:xfrm>
                <a:off x="0" y="0"/>
                <a:ext cx="2619300" cy="1714500"/>
              </a:xfrm>
              <a:prstGeom prst="roundRect">
                <a:avLst>
                  <a:gd name="adj" fmla="val 8888"/>
                </a:avLst>
              </a:prstGeom>
              <a:solidFill>
                <a:srgbClr val="1A1A1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21"/>
              <p:cNvSpPr txBox="1"/>
              <p:nvPr/>
            </p:nvSpPr>
            <p:spPr>
              <a:xfrm>
                <a:off x="0" y="0"/>
                <a:ext cx="26193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0" tIns="190500" rIns="190500" bIns="1905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0">
                    <a:solidFill>
                      <a:srgbClr val="DAFFDE"/>
                    </a:solidFill>
                    <a:latin typeface="Urbanist Medium"/>
                    <a:ea typeface="Urbanist Medium"/>
                    <a:cs typeface="Urbanist Medium"/>
                    <a:sym typeface="Urbanist Medium"/>
                  </a:rPr>
                  <a:t>RMSE</a:t>
                </a:r>
                <a:endParaRPr sz="1200" b="0">
                  <a:solidFill>
                    <a:srgbClr val="DAFFDE"/>
                  </a:solidFill>
                  <a:latin typeface="Urbanist Medium"/>
                  <a:ea typeface="Urbanist Medium"/>
                  <a:cs typeface="Urbanist Medium"/>
                  <a:sym typeface="Urbanist Medium"/>
                </a:endParaRPr>
              </a:p>
              <a:p>
                <a:pPr marL="0" lvl="0" indent="0" algn="ctr" rtl="0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en-US" sz="3200" b="1">
                    <a:solidFill>
                      <a:srgbClr val="F5F5F5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0.7284</a:t>
                </a:r>
                <a:endParaRPr sz="3200" b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marL="0" lvl="0" indent="0" algn="ctr" rtl="0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rgbClr val="888888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Root mean squared error</a:t>
                </a:r>
                <a:endParaRPr sz="1000">
                  <a:solidFill>
                    <a:srgbClr val="888888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  <p:grpSp>
          <p:nvGrpSpPr>
            <p:cNvPr id="252" name="Google Shape;252;p21"/>
            <p:cNvGrpSpPr/>
            <p:nvPr/>
          </p:nvGrpSpPr>
          <p:grpSpPr>
            <a:xfrm>
              <a:off x="5619750" y="0"/>
              <a:ext cx="2619300" cy="1714500"/>
              <a:chOff x="0" y="0"/>
              <a:chExt cx="2619300" cy="1714500"/>
            </a:xfrm>
          </p:grpSpPr>
          <p:sp>
            <p:nvSpPr>
              <p:cNvPr id="253" name="Google Shape;253;p21"/>
              <p:cNvSpPr/>
              <p:nvPr/>
            </p:nvSpPr>
            <p:spPr>
              <a:xfrm>
                <a:off x="0" y="0"/>
                <a:ext cx="2619300" cy="1714500"/>
              </a:xfrm>
              <a:prstGeom prst="roundRect">
                <a:avLst>
                  <a:gd name="adj" fmla="val 8888"/>
                </a:avLst>
              </a:prstGeom>
              <a:solidFill>
                <a:srgbClr val="1A1A1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21"/>
              <p:cNvSpPr txBox="1"/>
              <p:nvPr/>
            </p:nvSpPr>
            <p:spPr>
              <a:xfrm>
                <a:off x="0" y="0"/>
                <a:ext cx="26193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0" tIns="190500" rIns="190500" bIns="1905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0">
                    <a:solidFill>
                      <a:srgbClr val="DAFFDE"/>
                    </a:solidFill>
                    <a:latin typeface="Urbanist Medium"/>
                    <a:ea typeface="Urbanist Medium"/>
                    <a:cs typeface="Urbanist Medium"/>
                    <a:sym typeface="Urbanist Medium"/>
                  </a:rPr>
                  <a:t>MAE</a:t>
                </a:r>
                <a:endParaRPr sz="1200" b="0">
                  <a:solidFill>
                    <a:srgbClr val="DAFFDE"/>
                  </a:solidFill>
                  <a:latin typeface="Urbanist Medium"/>
                  <a:ea typeface="Urbanist Medium"/>
                  <a:cs typeface="Urbanist Medium"/>
                  <a:sym typeface="Urbanist Medium"/>
                </a:endParaRPr>
              </a:p>
              <a:p>
                <a:pPr marL="0" lvl="0" indent="0" algn="ctr" rtl="0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en-US" sz="3200" b="1">
                    <a:solidFill>
                      <a:srgbClr val="F5F5F5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0.5272</a:t>
                </a:r>
                <a:endParaRPr sz="3200" b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marL="0" lvl="0" indent="0" algn="ctr" rtl="0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rgbClr val="888888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Mean absolute error</a:t>
                </a:r>
                <a:endParaRPr sz="1000">
                  <a:solidFill>
                    <a:srgbClr val="888888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  <p:grpSp>
          <p:nvGrpSpPr>
            <p:cNvPr id="255" name="Google Shape;255;p21"/>
            <p:cNvGrpSpPr/>
            <p:nvPr/>
          </p:nvGrpSpPr>
          <p:grpSpPr>
            <a:xfrm>
              <a:off x="8429625" y="0"/>
              <a:ext cx="2619300" cy="1714500"/>
              <a:chOff x="0" y="0"/>
              <a:chExt cx="2619300" cy="1714500"/>
            </a:xfrm>
          </p:grpSpPr>
          <p:sp>
            <p:nvSpPr>
              <p:cNvPr id="256" name="Google Shape;256;p21"/>
              <p:cNvSpPr/>
              <p:nvPr/>
            </p:nvSpPr>
            <p:spPr>
              <a:xfrm>
                <a:off x="0" y="0"/>
                <a:ext cx="2619300" cy="1714500"/>
              </a:xfrm>
              <a:prstGeom prst="roundRect">
                <a:avLst>
                  <a:gd name="adj" fmla="val 8888"/>
                </a:avLst>
              </a:prstGeom>
              <a:solidFill>
                <a:srgbClr val="1A1A1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21"/>
              <p:cNvSpPr txBox="1"/>
              <p:nvPr/>
            </p:nvSpPr>
            <p:spPr>
              <a:xfrm>
                <a:off x="0" y="0"/>
                <a:ext cx="26193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0" tIns="190500" rIns="190500" bIns="1905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0">
                    <a:solidFill>
                      <a:srgbClr val="DAFFDE"/>
                    </a:solidFill>
                    <a:latin typeface="Urbanist Medium"/>
                    <a:ea typeface="Urbanist Medium"/>
                    <a:cs typeface="Urbanist Medium"/>
                    <a:sym typeface="Urbanist Medium"/>
                  </a:rPr>
                  <a:t>MSE</a:t>
                </a:r>
                <a:endParaRPr sz="1200" b="0">
                  <a:solidFill>
                    <a:srgbClr val="DAFFDE"/>
                  </a:solidFill>
                  <a:latin typeface="Urbanist Medium"/>
                  <a:ea typeface="Urbanist Medium"/>
                  <a:cs typeface="Urbanist Medium"/>
                  <a:sym typeface="Urbanist Medium"/>
                </a:endParaRPr>
              </a:p>
              <a:p>
                <a:pPr marL="0" lvl="0" indent="0" algn="ctr" rtl="0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en-US" sz="3200" b="1">
                    <a:solidFill>
                      <a:srgbClr val="F5F5F5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0.5306</a:t>
                </a:r>
                <a:endParaRPr sz="3200" b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marL="0" lvl="0" indent="0" algn="ctr" rtl="0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rgbClr val="888888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Mean squared error</a:t>
                </a:r>
                <a:endParaRPr sz="1000">
                  <a:solidFill>
                    <a:srgbClr val="888888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</p:grpSp>
      <p:grpSp>
        <p:nvGrpSpPr>
          <p:cNvPr id="258" name="Google Shape;258;p21"/>
          <p:cNvGrpSpPr/>
          <p:nvPr/>
        </p:nvGrpSpPr>
        <p:grpSpPr>
          <a:xfrm>
            <a:off x="571500" y="4095750"/>
            <a:ext cx="11049150" cy="1714500"/>
            <a:chOff x="0" y="0"/>
            <a:chExt cx="11049150" cy="1714500"/>
          </a:xfrm>
        </p:grpSpPr>
        <p:grpSp>
          <p:nvGrpSpPr>
            <p:cNvPr id="259" name="Google Shape;259;p21"/>
            <p:cNvGrpSpPr/>
            <p:nvPr/>
          </p:nvGrpSpPr>
          <p:grpSpPr>
            <a:xfrm>
              <a:off x="0" y="0"/>
              <a:ext cx="5429400" cy="1714500"/>
              <a:chOff x="0" y="0"/>
              <a:chExt cx="5429400" cy="1714500"/>
            </a:xfrm>
          </p:grpSpPr>
          <p:sp>
            <p:nvSpPr>
              <p:cNvPr id="260" name="Google Shape;260;p21"/>
              <p:cNvSpPr/>
              <p:nvPr/>
            </p:nvSpPr>
            <p:spPr>
              <a:xfrm>
                <a:off x="0" y="0"/>
                <a:ext cx="5429400" cy="1714500"/>
              </a:xfrm>
              <a:prstGeom prst="roundRect">
                <a:avLst>
                  <a:gd name="adj" fmla="val 8888"/>
                </a:avLst>
              </a:prstGeom>
              <a:solidFill>
                <a:srgbClr val="1A1A1A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21"/>
              <p:cNvSpPr txBox="1"/>
              <p:nvPr/>
            </p:nvSpPr>
            <p:spPr>
              <a:xfrm>
                <a:off x="0" y="0"/>
                <a:ext cx="54294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38125" tIns="238125" rIns="238125" bIns="2381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0">
                    <a:solidFill>
                      <a:srgbClr val="DEFF9A"/>
                    </a:solidFill>
                    <a:latin typeface="Urbanist SemiBold"/>
                    <a:ea typeface="Urbanist SemiBold"/>
                    <a:cs typeface="Urbanist SemiBold"/>
                    <a:sym typeface="Urbanist SemiBold"/>
                  </a:rPr>
                  <a:t>Adjusted R²</a:t>
                </a:r>
                <a:endParaRPr sz="1600" b="0">
                  <a:solidFill>
                    <a:srgbClr val="DEFF9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endParaRPr>
              </a:p>
              <a:p>
                <a:pPr marL="0" lvl="0" indent="0" algn="l" rtl="0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300" b="0">
                    <a:solidFill>
                      <a:srgbClr val="DAFFDE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0.5952 — nearly identical to R², confirming the 8 features are not over-fitting the test set.</a:t>
                </a:r>
                <a:endParaRPr sz="1300" b="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  <p:grpSp>
          <p:nvGrpSpPr>
            <p:cNvPr id="262" name="Google Shape;262;p21"/>
            <p:cNvGrpSpPr/>
            <p:nvPr/>
          </p:nvGrpSpPr>
          <p:grpSpPr>
            <a:xfrm>
              <a:off x="5619750" y="0"/>
              <a:ext cx="5429400" cy="1714500"/>
              <a:chOff x="0" y="0"/>
              <a:chExt cx="5429400" cy="1714500"/>
            </a:xfrm>
          </p:grpSpPr>
          <p:sp>
            <p:nvSpPr>
              <p:cNvPr id="263" name="Google Shape;263;p21"/>
              <p:cNvSpPr/>
              <p:nvPr/>
            </p:nvSpPr>
            <p:spPr>
              <a:xfrm>
                <a:off x="0" y="0"/>
                <a:ext cx="5429400" cy="1714500"/>
              </a:xfrm>
              <a:prstGeom prst="roundRect">
                <a:avLst>
                  <a:gd name="adj" fmla="val 8888"/>
                </a:avLst>
              </a:prstGeom>
              <a:solidFill>
                <a:srgbClr val="1A1A1A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21"/>
              <p:cNvSpPr txBox="1"/>
              <p:nvPr/>
            </p:nvSpPr>
            <p:spPr>
              <a:xfrm>
                <a:off x="0" y="0"/>
                <a:ext cx="54294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38125" tIns="238125" rIns="238125" bIns="2381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0">
                    <a:solidFill>
                      <a:srgbClr val="DEFF9A"/>
                    </a:solidFill>
                    <a:latin typeface="Urbanist SemiBold"/>
                    <a:ea typeface="Urbanist SemiBold"/>
                    <a:cs typeface="Urbanist SemiBold"/>
                    <a:sym typeface="Urbanist SemiBold"/>
                  </a:rPr>
                  <a:t>Reading the metrics</a:t>
                </a:r>
                <a:endParaRPr sz="1600" b="0">
                  <a:solidFill>
                    <a:srgbClr val="DEFF9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endParaRPr>
              </a:p>
              <a:p>
                <a:pPr marL="0" lvl="0" indent="0" algn="l" rtl="0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300" b="0">
                    <a:solidFill>
                      <a:srgbClr val="DAFFDE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On the $100k-unit target, an MAE of 0.5272 means predictions are off by roughly $52,700 on average — a reasonable baseline for a simple linear model on this dataset.</a:t>
                </a:r>
                <a:endParaRPr sz="1300" b="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2"/>
          <p:cNvSpPr txBox="1"/>
          <p:nvPr/>
        </p:nvSpPr>
        <p:spPr>
          <a:xfrm>
            <a:off x="571500" y="476250"/>
            <a:ext cx="110490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VALIDATION</a:t>
            </a:r>
            <a:endParaRPr sz="1400" b="0">
              <a:solidFill>
                <a:srgbClr val="DEFF9A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marL="0" lvl="0" indent="0" algn="l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4200" b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Cross-Validation </a:t>
            </a:r>
            <a:r>
              <a:rPr lang="en-US" sz="4200" b="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Stability</a:t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1" name="Google Shape;271;p22"/>
          <p:cNvSpPr txBox="1"/>
          <p:nvPr/>
        </p:nvSpPr>
        <p:spPr>
          <a:xfrm>
            <a:off x="571500" y="1571625"/>
            <a:ext cx="7429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 single train/test split can be lucky or unlucky. 5-fold cross-validation confirms the model generalizes consistently rather than fitting a single particular split.</a:t>
            </a:r>
            <a:endParaRPr sz="1400" b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272" name="Google Shape;272;p22"/>
          <p:cNvGrpSpPr/>
          <p:nvPr/>
        </p:nvGrpSpPr>
        <p:grpSpPr>
          <a:xfrm>
            <a:off x="571500" y="2476500"/>
            <a:ext cx="6762750" cy="3810000"/>
            <a:chOff x="0" y="0"/>
            <a:chExt cx="6762750" cy="3810000"/>
          </a:xfrm>
        </p:grpSpPr>
        <p:sp>
          <p:nvSpPr>
            <p:cNvPr id="273" name="Google Shape;273;p22"/>
            <p:cNvSpPr/>
            <p:nvPr/>
          </p:nvSpPr>
          <p:spPr>
            <a:xfrm>
              <a:off x="0" y="0"/>
              <a:ext cx="6667500" cy="3810000"/>
            </a:xfrm>
            <a:prstGeom prst="roundRect">
              <a:avLst>
                <a:gd name="adj" fmla="val 5000"/>
              </a:avLst>
            </a:prstGeom>
            <a:solidFill>
              <a:srgbClr val="1A1A1A">
                <a:alpha val="8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2"/>
            <p:cNvSpPr txBox="1"/>
            <p:nvPr/>
          </p:nvSpPr>
          <p:spPr>
            <a:xfrm>
              <a:off x="285750" y="285750"/>
              <a:ext cx="6477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>
                  <a:solidFill>
                    <a:srgbClr val="DEFF9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R² score per fold (5-fold CV)</a:t>
              </a:r>
              <a:endParaRPr sz="1600" b="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grpSp>
          <p:nvGrpSpPr>
            <p:cNvPr id="275" name="Google Shape;275;p22"/>
            <p:cNvGrpSpPr/>
            <p:nvPr/>
          </p:nvGrpSpPr>
          <p:grpSpPr>
            <a:xfrm>
              <a:off x="571500" y="947738"/>
              <a:ext cx="5619900" cy="2767163"/>
              <a:chOff x="0" y="-2386012"/>
              <a:chExt cx="5619900" cy="2767163"/>
            </a:xfrm>
          </p:grpSpPr>
          <p:sp>
            <p:nvSpPr>
              <p:cNvPr id="276" name="Google Shape;276;p22"/>
              <p:cNvSpPr/>
              <p:nvPr/>
            </p:nvSpPr>
            <p:spPr>
              <a:xfrm>
                <a:off x="0" y="-2003584"/>
                <a:ext cx="762000" cy="2003700"/>
              </a:xfrm>
              <a:prstGeom prst="roundRect">
                <a:avLst>
                  <a:gd name="adj" fmla="val 5000"/>
                </a:avLst>
              </a:prstGeom>
              <a:solidFill>
                <a:srgbClr val="DEFF9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22"/>
              <p:cNvSpPr/>
              <p:nvPr/>
            </p:nvSpPr>
            <p:spPr>
              <a:xfrm>
                <a:off x="1143000" y="-2036921"/>
                <a:ext cx="762000" cy="2037000"/>
              </a:xfrm>
              <a:prstGeom prst="roundRect">
                <a:avLst>
                  <a:gd name="adj" fmla="val 5000"/>
                </a:avLst>
              </a:prstGeom>
              <a:solidFill>
                <a:srgbClr val="DEFF9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22"/>
              <p:cNvSpPr/>
              <p:nvPr/>
            </p:nvSpPr>
            <p:spPr>
              <a:xfrm>
                <a:off x="2286000" y="-1993582"/>
                <a:ext cx="762000" cy="1993500"/>
              </a:xfrm>
              <a:prstGeom prst="roundRect">
                <a:avLst>
                  <a:gd name="adj" fmla="val 5000"/>
                </a:avLst>
              </a:prstGeom>
              <a:solidFill>
                <a:srgbClr val="DEFF9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22"/>
              <p:cNvSpPr/>
              <p:nvPr/>
            </p:nvSpPr>
            <p:spPr>
              <a:xfrm>
                <a:off x="3429000" y="-2053590"/>
                <a:ext cx="762000" cy="2053500"/>
              </a:xfrm>
              <a:prstGeom prst="roundRect">
                <a:avLst>
                  <a:gd name="adj" fmla="val 5000"/>
                </a:avLst>
              </a:prstGeom>
              <a:solidFill>
                <a:srgbClr val="DEFF9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22"/>
              <p:cNvSpPr/>
              <p:nvPr/>
            </p:nvSpPr>
            <p:spPr>
              <a:xfrm>
                <a:off x="4572000" y="-2023586"/>
                <a:ext cx="762000" cy="2023500"/>
              </a:xfrm>
              <a:prstGeom prst="roundRect">
                <a:avLst>
                  <a:gd name="adj" fmla="val 5000"/>
                </a:avLst>
              </a:prstGeom>
              <a:solidFill>
                <a:srgbClr val="DEFF9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22"/>
              <p:cNvSpPr txBox="1"/>
              <p:nvPr/>
            </p:nvSpPr>
            <p:spPr>
              <a:xfrm>
                <a:off x="0" y="-233362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>
                    <a:solidFill>
                      <a:srgbClr val="F5F5F5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0.601</a:t>
                </a:r>
                <a:endParaRPr sz="1200" b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282" name="Google Shape;282;p22"/>
              <p:cNvSpPr txBox="1"/>
              <p:nvPr/>
            </p:nvSpPr>
            <p:spPr>
              <a:xfrm>
                <a:off x="1143000" y="-2366962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>
                    <a:solidFill>
                      <a:srgbClr val="F5F5F5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0.611</a:t>
                </a:r>
                <a:endParaRPr sz="1200" b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283" name="Google Shape;283;p22"/>
              <p:cNvSpPr txBox="1"/>
              <p:nvPr/>
            </p:nvSpPr>
            <p:spPr>
              <a:xfrm>
                <a:off x="2286000" y="-2324100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>
                    <a:solidFill>
                      <a:srgbClr val="F5F5F5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0.598</a:t>
                </a:r>
                <a:endParaRPr sz="1200" b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284" name="Google Shape;284;p22"/>
              <p:cNvSpPr txBox="1"/>
              <p:nvPr/>
            </p:nvSpPr>
            <p:spPr>
              <a:xfrm>
                <a:off x="3429000" y="-2386012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>
                    <a:solidFill>
                      <a:srgbClr val="F5F5F5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0.616</a:t>
                </a:r>
                <a:endParaRPr sz="1200" b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285" name="Google Shape;285;p22"/>
              <p:cNvSpPr txBox="1"/>
              <p:nvPr/>
            </p:nvSpPr>
            <p:spPr>
              <a:xfrm>
                <a:off x="4572000" y="-235267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>
                    <a:solidFill>
                      <a:srgbClr val="F5F5F5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0.607</a:t>
                </a:r>
                <a:endParaRPr sz="1200" b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286" name="Google Shape;286;p22"/>
              <p:cNvSpPr txBox="1"/>
              <p:nvPr/>
            </p:nvSpPr>
            <p:spPr>
              <a:xfrm>
                <a:off x="0" y="95250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888888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Fold 1</a:t>
                </a:r>
                <a:endParaRPr sz="1100">
                  <a:solidFill>
                    <a:srgbClr val="888888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287" name="Google Shape;287;p22"/>
              <p:cNvSpPr txBox="1"/>
              <p:nvPr/>
            </p:nvSpPr>
            <p:spPr>
              <a:xfrm>
                <a:off x="1143000" y="95250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888888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Fold 2</a:t>
                </a:r>
                <a:endParaRPr sz="1100">
                  <a:solidFill>
                    <a:srgbClr val="888888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288" name="Google Shape;288;p22"/>
              <p:cNvSpPr txBox="1"/>
              <p:nvPr/>
            </p:nvSpPr>
            <p:spPr>
              <a:xfrm>
                <a:off x="2286000" y="95250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888888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Fold 3</a:t>
                </a:r>
                <a:endParaRPr sz="1100">
                  <a:solidFill>
                    <a:srgbClr val="888888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289" name="Google Shape;289;p22"/>
              <p:cNvSpPr txBox="1"/>
              <p:nvPr/>
            </p:nvSpPr>
            <p:spPr>
              <a:xfrm>
                <a:off x="3429000" y="95250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888888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Fold 4</a:t>
                </a:r>
                <a:endParaRPr sz="1100">
                  <a:solidFill>
                    <a:srgbClr val="888888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290" name="Google Shape;290;p22"/>
              <p:cNvSpPr txBox="1"/>
              <p:nvPr/>
            </p:nvSpPr>
            <p:spPr>
              <a:xfrm>
                <a:off x="4572000" y="95250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888888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Fold 5</a:t>
                </a:r>
                <a:endParaRPr sz="1100">
                  <a:solidFill>
                    <a:srgbClr val="888888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291" name="Google Shape;291;p22"/>
              <p:cNvSpPr txBox="1"/>
              <p:nvPr/>
            </p:nvSpPr>
            <p:spPr>
              <a:xfrm>
                <a:off x="0" y="-2047875"/>
                <a:ext cx="666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 b="1">
                    <a:solidFill>
                      <a:srgbClr val="F5F5F5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0.601</a:t>
                </a:r>
                <a:endParaRPr sz="1300" b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292" name="Google Shape;292;p22"/>
              <p:cNvSpPr txBox="1"/>
              <p:nvPr/>
            </p:nvSpPr>
            <p:spPr>
              <a:xfrm>
                <a:off x="1238250" y="-2081212"/>
                <a:ext cx="666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 b="1">
                    <a:solidFill>
                      <a:srgbClr val="F5F5F5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0.611</a:t>
                </a:r>
                <a:endParaRPr sz="1300" b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293" name="Google Shape;293;p22"/>
              <p:cNvSpPr txBox="1"/>
              <p:nvPr/>
            </p:nvSpPr>
            <p:spPr>
              <a:xfrm>
                <a:off x="2476500" y="-2038350"/>
                <a:ext cx="666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 b="1">
                    <a:solidFill>
                      <a:srgbClr val="F5F5F5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0.598</a:t>
                </a:r>
                <a:endParaRPr sz="1300" b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294" name="Google Shape;294;p22"/>
              <p:cNvSpPr txBox="1"/>
              <p:nvPr/>
            </p:nvSpPr>
            <p:spPr>
              <a:xfrm>
                <a:off x="3714750" y="-2100262"/>
                <a:ext cx="666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 b="1">
                    <a:solidFill>
                      <a:srgbClr val="F5F5F5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0.616</a:t>
                </a:r>
                <a:endParaRPr sz="1300" b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295" name="Google Shape;295;p22"/>
              <p:cNvSpPr txBox="1"/>
              <p:nvPr/>
            </p:nvSpPr>
            <p:spPr>
              <a:xfrm>
                <a:off x="4953000" y="-2066925"/>
                <a:ext cx="666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 b="1">
                    <a:solidFill>
                      <a:srgbClr val="F5F5F5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0.607</a:t>
                </a:r>
                <a:endParaRPr sz="1300" b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296" name="Google Shape;296;p22"/>
              <p:cNvSpPr txBox="1"/>
              <p:nvPr/>
            </p:nvSpPr>
            <p:spPr>
              <a:xfrm>
                <a:off x="0" y="142875"/>
                <a:ext cx="6669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0">
                    <a:solidFill>
                      <a:srgbClr val="888888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Fold 1</a:t>
                </a:r>
                <a:endParaRPr sz="1100" b="0">
                  <a:solidFill>
                    <a:srgbClr val="888888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297" name="Google Shape;297;p22"/>
              <p:cNvSpPr txBox="1"/>
              <p:nvPr/>
            </p:nvSpPr>
            <p:spPr>
              <a:xfrm>
                <a:off x="1238250" y="142875"/>
                <a:ext cx="6669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0">
                    <a:solidFill>
                      <a:srgbClr val="888888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Fold 2</a:t>
                </a:r>
                <a:endParaRPr sz="1100" b="0">
                  <a:solidFill>
                    <a:srgbClr val="888888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298" name="Google Shape;298;p22"/>
              <p:cNvSpPr txBox="1"/>
              <p:nvPr/>
            </p:nvSpPr>
            <p:spPr>
              <a:xfrm>
                <a:off x="2476500" y="142875"/>
                <a:ext cx="6669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0">
                    <a:solidFill>
                      <a:srgbClr val="888888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Fold 3</a:t>
                </a:r>
                <a:endParaRPr sz="1100" b="0">
                  <a:solidFill>
                    <a:srgbClr val="888888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299" name="Google Shape;299;p22"/>
              <p:cNvSpPr txBox="1"/>
              <p:nvPr/>
            </p:nvSpPr>
            <p:spPr>
              <a:xfrm>
                <a:off x="3714750" y="142875"/>
                <a:ext cx="6669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0">
                    <a:solidFill>
                      <a:srgbClr val="888888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Fold 4</a:t>
                </a:r>
                <a:endParaRPr sz="1100" b="0">
                  <a:solidFill>
                    <a:srgbClr val="888888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300" name="Google Shape;300;p22"/>
              <p:cNvSpPr txBox="1"/>
              <p:nvPr/>
            </p:nvSpPr>
            <p:spPr>
              <a:xfrm>
                <a:off x="4953000" y="142875"/>
                <a:ext cx="6669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0">
                    <a:solidFill>
                      <a:srgbClr val="888888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Fold 5</a:t>
                </a:r>
                <a:endParaRPr sz="1100" b="0">
                  <a:solidFill>
                    <a:srgbClr val="888888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</p:grpSp>
      <p:grpSp>
        <p:nvGrpSpPr>
          <p:cNvPr id="301" name="Google Shape;301;p22"/>
          <p:cNvGrpSpPr/>
          <p:nvPr/>
        </p:nvGrpSpPr>
        <p:grpSpPr>
          <a:xfrm>
            <a:off x="7905750" y="2476500"/>
            <a:ext cx="4000500" cy="3238650"/>
            <a:chOff x="0" y="0"/>
            <a:chExt cx="4000500" cy="3238650"/>
          </a:xfrm>
        </p:grpSpPr>
        <p:sp>
          <p:nvSpPr>
            <p:cNvPr id="302" name="Google Shape;302;p22"/>
            <p:cNvSpPr/>
            <p:nvPr/>
          </p:nvSpPr>
          <p:spPr>
            <a:xfrm>
              <a:off x="0" y="0"/>
              <a:ext cx="4000500" cy="1809600"/>
            </a:xfrm>
            <a:prstGeom prst="roundRect">
              <a:avLst>
                <a:gd name="adj" fmla="val 10526"/>
              </a:avLst>
            </a:prstGeom>
            <a:solidFill>
              <a:srgbClr val="1A1A1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2"/>
            <p:cNvSpPr txBox="1"/>
            <p:nvPr/>
          </p:nvSpPr>
          <p:spPr>
            <a:xfrm>
              <a:off x="0" y="0"/>
              <a:ext cx="3714900" cy="17145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txBody>
            <a:bodyPr spcFirstLastPara="1" wrap="square" lIns="190500" tIns="190500" rIns="190500" bIns="190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DAFFDE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MEAN CV R²</a:t>
              </a:r>
              <a:endParaRPr sz="1200" b="0">
                <a:solidFill>
                  <a:srgbClr val="DAFFDE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0" lvl="0" indent="0" algn="ctr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5200" b="1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0.6066</a:t>
              </a:r>
              <a:endParaRPr sz="5200" b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304" name="Google Shape;304;p22"/>
            <p:cNvSpPr/>
            <p:nvPr/>
          </p:nvSpPr>
          <p:spPr>
            <a:xfrm>
              <a:off x="0" y="2000250"/>
              <a:ext cx="4000500" cy="1238400"/>
            </a:xfrm>
            <a:prstGeom prst="roundRect">
              <a:avLst>
                <a:gd name="adj" fmla="val 15384"/>
              </a:avLst>
            </a:prstGeom>
            <a:solidFill>
              <a:srgbClr val="1A1A1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2"/>
            <p:cNvSpPr txBox="1"/>
            <p:nvPr/>
          </p:nvSpPr>
          <p:spPr>
            <a:xfrm>
              <a:off x="0" y="1905000"/>
              <a:ext cx="3714900" cy="13335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txBody>
            <a:bodyPr spcFirstLastPara="1" wrap="square" lIns="190500" tIns="190500" rIns="190500" bIns="190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DAFFDE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STANDARD DEVIATION</a:t>
              </a:r>
              <a:endParaRPr sz="1200" b="0">
                <a:solidFill>
                  <a:srgbClr val="DAFFDE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0" lvl="0" indent="0" algn="ctr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3600" b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± 0.0069</a:t>
              </a:r>
              <a:endParaRPr sz="3600" b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306" name="Google Shape;306;p22"/>
          <p:cNvSpPr txBox="1"/>
          <p:nvPr/>
        </p:nvSpPr>
        <p:spPr>
          <a:xfrm>
            <a:off x="7905750" y="5810250"/>
            <a:ext cx="37149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A standard deviation under 0.01 across folds indicates stable, low-variance performance — the model isn't overfitting to any single data split.</a:t>
            </a:r>
            <a:endParaRPr sz="1150" b="0">
              <a:solidFill>
                <a:srgbClr val="888888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3"/>
          <p:cNvSpPr txBox="1"/>
          <p:nvPr/>
        </p:nvSpPr>
        <p:spPr>
          <a:xfrm>
            <a:off x="571500" y="476250"/>
            <a:ext cx="110490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MODEL DIAGNOSTICS</a:t>
            </a:r>
            <a:endParaRPr sz="1400" b="0">
              <a:solidFill>
                <a:srgbClr val="DEFF9A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marL="0" lvl="0" indent="0" algn="l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4200" b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Actual vs. Predicted </a:t>
            </a:r>
            <a:r>
              <a:rPr lang="en-US" sz="4200" b="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&amp; Residuals</a:t>
            </a:r>
            <a:endParaRPr sz="4200" b="0">
              <a:solidFill>
                <a:srgbClr val="F5F5F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grpSp>
        <p:nvGrpSpPr>
          <p:cNvPr id="313" name="Google Shape;313;p23"/>
          <p:cNvGrpSpPr/>
          <p:nvPr/>
        </p:nvGrpSpPr>
        <p:grpSpPr>
          <a:xfrm>
            <a:off x="571500" y="1714500"/>
            <a:ext cx="5429400" cy="3810000"/>
            <a:chOff x="0" y="0"/>
            <a:chExt cx="5429400" cy="3810000"/>
          </a:xfrm>
        </p:grpSpPr>
        <p:sp>
          <p:nvSpPr>
            <p:cNvPr id="314" name="Google Shape;314;p23"/>
            <p:cNvSpPr/>
            <p:nvPr/>
          </p:nvSpPr>
          <p:spPr>
            <a:xfrm>
              <a:off x="0" y="0"/>
              <a:ext cx="5429400" cy="3810000"/>
            </a:xfrm>
            <a:prstGeom prst="roundRect">
              <a:avLst>
                <a:gd name="adj" fmla="val 5000"/>
              </a:avLst>
            </a:prstGeom>
            <a:solidFill>
              <a:srgbClr val="1A1A1A">
                <a:alpha val="8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15" name="Google Shape;315;p23"/>
            <p:cNvPicPr preferRelativeResize="0"/>
            <p:nvPr/>
          </p:nvPicPr>
          <p:blipFill rotWithShape="1">
            <a:blip r:embed="rId5">
              <a:alphaModFix/>
            </a:blip>
            <a:srcRect l="729" r="719"/>
            <a:stretch/>
          </p:blipFill>
          <p:spPr>
            <a:xfrm>
              <a:off x="190500" y="190500"/>
              <a:ext cx="5048400" cy="2667000"/>
            </a:xfrm>
            <a:prstGeom prst="roundRect">
              <a:avLst>
                <a:gd name="adj" fmla="val 3571"/>
              </a:avLst>
            </a:prstGeom>
            <a:noFill/>
            <a:ln>
              <a:noFill/>
            </a:ln>
          </p:spPr>
        </p:pic>
        <p:sp>
          <p:nvSpPr>
            <p:cNvPr id="316" name="Google Shape;316;p23"/>
            <p:cNvSpPr txBox="1"/>
            <p:nvPr/>
          </p:nvSpPr>
          <p:spPr>
            <a:xfrm>
              <a:off x="190500" y="3000375"/>
              <a:ext cx="50484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80" b="0">
                  <a:solidFill>
                    <a:srgbClr val="DEFF9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Trend Analysis</a:t>
              </a:r>
              <a:endParaRPr sz="1480" b="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018" b="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Points cluster around the diagonal for mid-range prices; the cap at $500,011 creates the vertical band near Actual = 5.</a:t>
              </a:r>
              <a:endParaRPr sz="1018" b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317" name="Google Shape;317;p23"/>
          <p:cNvGrpSpPr/>
          <p:nvPr/>
        </p:nvGrpSpPr>
        <p:grpSpPr>
          <a:xfrm>
            <a:off x="6191250" y="1714500"/>
            <a:ext cx="5429400" cy="3810000"/>
            <a:chOff x="0" y="0"/>
            <a:chExt cx="5429400" cy="3810000"/>
          </a:xfrm>
        </p:grpSpPr>
        <p:sp>
          <p:nvSpPr>
            <p:cNvPr id="318" name="Google Shape;318;p23"/>
            <p:cNvSpPr/>
            <p:nvPr/>
          </p:nvSpPr>
          <p:spPr>
            <a:xfrm>
              <a:off x="0" y="0"/>
              <a:ext cx="5429400" cy="3810000"/>
            </a:xfrm>
            <a:prstGeom prst="roundRect">
              <a:avLst>
                <a:gd name="adj" fmla="val 5000"/>
              </a:avLst>
            </a:prstGeom>
            <a:solidFill>
              <a:srgbClr val="1A1A1A">
                <a:alpha val="8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19" name="Google Shape;319;p23"/>
            <p:cNvPicPr preferRelativeResize="0"/>
            <p:nvPr/>
          </p:nvPicPr>
          <p:blipFill rotWithShape="1">
            <a:blip r:embed="rId5">
              <a:alphaModFix/>
            </a:blip>
            <a:srcRect l="729" r="719"/>
            <a:stretch/>
          </p:blipFill>
          <p:spPr>
            <a:xfrm>
              <a:off x="190500" y="190500"/>
              <a:ext cx="5048400" cy="2667000"/>
            </a:xfrm>
            <a:prstGeom prst="roundRect">
              <a:avLst>
                <a:gd name="adj" fmla="val 3571"/>
              </a:avLst>
            </a:prstGeom>
            <a:noFill/>
            <a:ln>
              <a:noFill/>
            </a:ln>
          </p:spPr>
        </p:pic>
        <p:sp>
          <p:nvSpPr>
            <p:cNvPr id="320" name="Google Shape;320;p23"/>
            <p:cNvSpPr txBox="1"/>
            <p:nvPr/>
          </p:nvSpPr>
          <p:spPr>
            <a:xfrm>
              <a:off x="190500" y="3000375"/>
              <a:ext cx="50484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80" b="0">
                  <a:solidFill>
                    <a:srgbClr val="DEFF9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Error Distribution</a:t>
              </a:r>
              <a:endParaRPr sz="1480" b="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018" b="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Residuals center near zero but show a mild downward slope — a sign of the linear model's limits on higher-value homes.</a:t>
              </a:r>
              <a:endParaRPr sz="1018" b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321" name="Google Shape;321;p23"/>
          <p:cNvGrpSpPr/>
          <p:nvPr/>
        </p:nvGrpSpPr>
        <p:grpSpPr>
          <a:xfrm>
            <a:off x="571500" y="5762625"/>
            <a:ext cx="11049000" cy="809700"/>
            <a:chOff x="0" y="0"/>
            <a:chExt cx="11049000" cy="809700"/>
          </a:xfrm>
        </p:grpSpPr>
        <p:sp>
          <p:nvSpPr>
            <p:cNvPr id="322" name="Google Shape;322;p23"/>
            <p:cNvSpPr/>
            <p:nvPr/>
          </p:nvSpPr>
          <p:spPr>
            <a:xfrm>
              <a:off x="0" y="0"/>
              <a:ext cx="11049000" cy="809700"/>
            </a:xfrm>
            <a:prstGeom prst="roundRect">
              <a:avLst>
                <a:gd name="adj" fmla="val 17647"/>
              </a:avLst>
            </a:prstGeom>
            <a:solidFill>
              <a:srgbClr val="DEFF9A">
                <a:alpha val="10000"/>
              </a:srgbClr>
            </a:solidFill>
            <a:ln w="9525" cap="flat" cmpd="sng">
              <a:solidFill>
                <a:srgbClr val="DEFF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3"/>
            <p:cNvSpPr/>
            <p:nvPr/>
          </p:nvSpPr>
          <p:spPr>
            <a:xfrm>
              <a:off x="285750" y="2857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flat" cmpd="sng">
              <a:solidFill>
                <a:srgbClr val="DEFF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3"/>
            <p:cNvSpPr/>
            <p:nvPr/>
          </p:nvSpPr>
          <p:spPr>
            <a:xfrm>
              <a:off x="10668000" y="428625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0" y="120000"/>
                  </a:lnTo>
                  <a:moveTo>
                    <a:pt x="120000" y="120000"/>
                  </a:move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flat" cmpd="sng">
              <a:solidFill>
                <a:srgbClr val="DEFF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3"/>
            <p:cNvSpPr txBox="1"/>
            <p:nvPr/>
          </p:nvSpPr>
          <p:spPr>
            <a:xfrm>
              <a:off x="381000" y="95250"/>
              <a:ext cx="10287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 i="1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Diagnostic analysis confirms that while the model is robust for most segments, the artificial price ceiling in the dataset introduces heteroscedasticity that impacts high-end predictions.</a:t>
              </a:r>
              <a:endParaRPr sz="1300" b="0" i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4"/>
          <p:cNvSpPr txBox="1"/>
          <p:nvPr/>
        </p:nvSpPr>
        <p:spPr>
          <a:xfrm>
            <a:off x="571500" y="476250"/>
            <a:ext cx="11049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Model Interpretation</a:t>
            </a:r>
            <a:endParaRPr sz="1400" b="0">
              <a:solidFill>
                <a:srgbClr val="DEFF9A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marL="0" lvl="0" indent="0" algn="l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4800" b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Feature </a:t>
            </a:r>
            <a:r>
              <a:rPr lang="en-US" sz="4800" b="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Importance</a:t>
            </a:r>
            <a:endParaRPr sz="4800" b="0"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332" name="Google Shape;332;p24"/>
          <p:cNvSpPr txBox="1"/>
          <p:nvPr/>
        </p:nvSpPr>
        <p:spPr>
          <a:xfrm>
            <a:off x="571500" y="1762125"/>
            <a:ext cx="11049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Standardized regression coefficients show how strongly each feature moves predicted price, holding others constant.</a:t>
            </a:r>
            <a:endParaRPr sz="1500" b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333" name="Google Shape;333;p24"/>
          <p:cNvGrpSpPr/>
          <p:nvPr/>
        </p:nvGrpSpPr>
        <p:grpSpPr>
          <a:xfrm>
            <a:off x="571500" y="2381250"/>
            <a:ext cx="11049000" cy="3143400"/>
            <a:chOff x="0" y="0"/>
            <a:chExt cx="11049000" cy="3143400"/>
          </a:xfrm>
        </p:grpSpPr>
        <p:sp>
          <p:nvSpPr>
            <p:cNvPr id="334" name="Google Shape;334;p24"/>
            <p:cNvSpPr/>
            <p:nvPr/>
          </p:nvSpPr>
          <p:spPr>
            <a:xfrm>
              <a:off x="0" y="0"/>
              <a:ext cx="11049000" cy="3143400"/>
            </a:xfrm>
            <a:prstGeom prst="roundRect">
              <a:avLst>
                <a:gd name="adj" fmla="val 6060"/>
              </a:avLst>
            </a:prstGeom>
            <a:solidFill>
              <a:srgbClr val="1A1A1A">
                <a:alpha val="8999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5" name="Google Shape;335;p24"/>
            <p:cNvPicPr preferRelativeResize="0"/>
            <p:nvPr/>
          </p:nvPicPr>
          <p:blipFill rotWithShape="1">
            <a:blip r:embed="rId5">
              <a:alphaModFix/>
            </a:blip>
            <a:srcRect t="26689" b="26693"/>
            <a:stretch/>
          </p:blipFill>
          <p:spPr>
            <a:xfrm>
              <a:off x="285750" y="285750"/>
              <a:ext cx="10477500" cy="2571900"/>
            </a:xfrm>
            <a:prstGeom prst="roundRect">
              <a:avLst>
                <a:gd name="adj" fmla="val 3703"/>
              </a:avLst>
            </a:prstGeom>
            <a:noFill/>
            <a:ln>
              <a:noFill/>
            </a:ln>
          </p:spPr>
        </p:pic>
      </p:grpSp>
      <p:grpSp>
        <p:nvGrpSpPr>
          <p:cNvPr id="336" name="Google Shape;336;p24"/>
          <p:cNvGrpSpPr/>
          <p:nvPr/>
        </p:nvGrpSpPr>
        <p:grpSpPr>
          <a:xfrm>
            <a:off x="571500" y="5762625"/>
            <a:ext cx="11049000" cy="809700"/>
            <a:chOff x="0" y="0"/>
            <a:chExt cx="11049000" cy="809700"/>
          </a:xfrm>
        </p:grpSpPr>
        <p:sp>
          <p:nvSpPr>
            <p:cNvPr id="337" name="Google Shape;337;p24"/>
            <p:cNvSpPr/>
            <p:nvPr/>
          </p:nvSpPr>
          <p:spPr>
            <a:xfrm>
              <a:off x="0" y="0"/>
              <a:ext cx="11049000" cy="809700"/>
            </a:xfrm>
            <a:prstGeom prst="roundRect">
              <a:avLst>
                <a:gd name="adj" fmla="val 17647"/>
              </a:avLst>
            </a:prstGeom>
            <a:solidFill>
              <a:srgbClr val="DEFF9A">
                <a:alpha val="10000"/>
              </a:srgbClr>
            </a:solidFill>
            <a:ln w="9525" cap="flat" cmpd="sng">
              <a:solidFill>
                <a:srgbClr val="DEFF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4"/>
            <p:cNvSpPr/>
            <p:nvPr/>
          </p:nvSpPr>
          <p:spPr>
            <a:xfrm>
              <a:off x="285750" y="2857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DEFF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4"/>
            <p:cNvSpPr/>
            <p:nvPr/>
          </p:nvSpPr>
          <p:spPr>
            <a:xfrm>
              <a:off x="10572750" y="333375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0" y="120000"/>
                  </a:lnTo>
                  <a:moveTo>
                    <a:pt x="120000" y="120000"/>
                  </a:move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DEFF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4"/>
            <p:cNvSpPr txBox="1"/>
            <p:nvPr/>
          </p:nvSpPr>
          <p:spPr>
            <a:xfrm>
              <a:off x="381000" y="95250"/>
              <a:ext cx="10287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i="1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MedInc (Median Income) is the most powerful positive predictor, while Latitude and Longitude show strong negative geographic correlations with price.</a:t>
              </a:r>
              <a:endParaRPr sz="1400" i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341" name="Google Shape;341;p24"/>
            <p:cNvSpPr txBox="1"/>
            <p:nvPr/>
          </p:nvSpPr>
          <p:spPr>
            <a:xfrm>
              <a:off x="571500" y="95250"/>
              <a:ext cx="9906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1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MedInc (Median Income) is the most powerful positive predictor, while Latitude and Longitude show strong negative geographic correlations with price.</a:t>
              </a:r>
              <a:endParaRPr sz="1400" b="0" i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5"/>
          <p:cNvSpPr txBox="1"/>
          <p:nvPr/>
        </p:nvSpPr>
        <p:spPr>
          <a:xfrm>
            <a:off x="571500" y="476250"/>
            <a:ext cx="11049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BENCHMARKING</a:t>
            </a:r>
            <a:endParaRPr sz="1400" b="0">
              <a:solidFill>
                <a:srgbClr val="DEFF9A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marL="0" lvl="0" indent="0" algn="l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4800" b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Model Comparison </a:t>
            </a:r>
            <a:r>
              <a:rPr lang="en-US" sz="4800" b="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&amp; Tuning</a:t>
            </a:r>
            <a:endParaRPr sz="1400" b="0">
              <a:solidFill>
                <a:srgbClr val="DEFF9A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348" name="Google Shape;348;p25"/>
          <p:cNvSpPr/>
          <p:nvPr/>
        </p:nvSpPr>
        <p:spPr>
          <a:xfrm>
            <a:off x="571500" y="1809750"/>
            <a:ext cx="6000900" cy="3619500"/>
          </a:xfrm>
          <a:prstGeom prst="roundRect">
            <a:avLst>
              <a:gd name="adj" fmla="val 5263"/>
            </a:avLst>
          </a:prstGeom>
          <a:solidFill>
            <a:srgbClr val="1A1A1A">
              <a:alpha val="8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9" name="Google Shape;349;p25"/>
          <p:cNvPicPr preferRelativeResize="0"/>
          <p:nvPr/>
        </p:nvPicPr>
        <p:blipFill rotWithShape="1">
          <a:blip r:embed="rId5">
            <a:alphaModFix/>
          </a:blip>
          <a:srcRect t="8862" b="8854"/>
          <a:stretch/>
        </p:blipFill>
        <p:spPr>
          <a:xfrm>
            <a:off x="857250" y="2047875"/>
            <a:ext cx="5429400" cy="3143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0" name="Google Shape;350;p25"/>
          <p:cNvGrpSpPr/>
          <p:nvPr/>
        </p:nvGrpSpPr>
        <p:grpSpPr>
          <a:xfrm>
            <a:off x="6762750" y="1809750"/>
            <a:ext cx="4857900" cy="3619500"/>
            <a:chOff x="0" y="0"/>
            <a:chExt cx="4857900" cy="3619500"/>
          </a:xfrm>
        </p:grpSpPr>
        <p:sp>
          <p:nvSpPr>
            <p:cNvPr id="351" name="Google Shape;351;p25"/>
            <p:cNvSpPr/>
            <p:nvPr/>
          </p:nvSpPr>
          <p:spPr>
            <a:xfrm>
              <a:off x="0" y="0"/>
              <a:ext cx="4857900" cy="3619500"/>
            </a:xfrm>
            <a:prstGeom prst="roundRect">
              <a:avLst>
                <a:gd name="adj" fmla="val 5263"/>
              </a:avLst>
            </a:prstGeom>
            <a:solidFill>
              <a:srgbClr val="1A1A1A">
                <a:alpha val="85000"/>
              </a:srgbClr>
            </a:solidFill>
            <a:ln w="9525" cap="flat" cmpd="sng">
              <a:solidFill>
                <a:srgbClr val="DEFF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5"/>
            <p:cNvSpPr txBox="1"/>
            <p:nvPr/>
          </p:nvSpPr>
          <p:spPr>
            <a:xfrm>
              <a:off x="285750" y="285750"/>
              <a:ext cx="4286400" cy="3048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50" b="0">
                  <a:solidFill>
                    <a:srgbClr val="DEFF9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GridSearchCV Tuning</a:t>
              </a:r>
              <a:endParaRPr sz="1850" b="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018" b="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5-fold search over Ridge alpha ∈ [0.01, 0.1, 1, 10, 100]</a:t>
              </a:r>
              <a:endParaRPr sz="1018" b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lang="en-US" sz="1110" b="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Best Hyperparameter</a:t>
              </a:r>
              <a:endParaRPr sz="1110" b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4995" b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α = 10</a:t>
              </a:r>
              <a:endParaRPr sz="4995" b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110" b="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Best Cross-Validated R²</a:t>
              </a:r>
              <a:endParaRPr sz="1110" b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4995" b="1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0.6066</a:t>
              </a:r>
              <a:endParaRPr sz="4995" b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353" name="Google Shape;353;p25"/>
          <p:cNvGrpSpPr/>
          <p:nvPr/>
        </p:nvGrpSpPr>
        <p:grpSpPr>
          <a:xfrm>
            <a:off x="571500" y="5762625"/>
            <a:ext cx="11049000" cy="809700"/>
            <a:chOff x="0" y="0"/>
            <a:chExt cx="11049000" cy="809700"/>
          </a:xfrm>
        </p:grpSpPr>
        <p:sp>
          <p:nvSpPr>
            <p:cNvPr id="354" name="Google Shape;354;p25"/>
            <p:cNvSpPr/>
            <p:nvPr/>
          </p:nvSpPr>
          <p:spPr>
            <a:xfrm>
              <a:off x="0" y="0"/>
              <a:ext cx="11049000" cy="809700"/>
            </a:xfrm>
            <a:prstGeom prst="roundRect">
              <a:avLst>
                <a:gd name="adj" fmla="val 17647"/>
              </a:avLst>
            </a:prstGeom>
            <a:solidFill>
              <a:srgbClr val="DEFF9A">
                <a:alpha val="10000"/>
              </a:srgbClr>
            </a:solidFill>
            <a:ln w="9525" cap="flat" cmpd="sng">
              <a:solidFill>
                <a:srgbClr val="DEFF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5"/>
            <p:cNvSpPr/>
            <p:nvPr/>
          </p:nvSpPr>
          <p:spPr>
            <a:xfrm>
              <a:off x="142875" y="142875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0" y="120000"/>
                  </a:lnTo>
                  <a:moveTo>
                    <a:pt x="0" y="120000"/>
                  </a:moveTo>
                  <a:lnTo>
                    <a:pt x="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flat" cmpd="sng">
              <a:solidFill>
                <a:srgbClr val="DEFF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5"/>
            <p:cNvSpPr/>
            <p:nvPr/>
          </p:nvSpPr>
          <p:spPr>
            <a:xfrm>
              <a:off x="10715625" y="4762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moveTo>
                    <a:pt x="120000" y="0"/>
                  </a:moveTo>
                  <a:lnTo>
                    <a:pt x="12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flat" cmpd="sng">
              <a:solidFill>
                <a:srgbClr val="DEFF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5"/>
            <p:cNvSpPr txBox="1"/>
            <p:nvPr/>
          </p:nvSpPr>
          <p:spPr>
            <a:xfrm>
              <a:off x="571500" y="0"/>
              <a:ext cx="99060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 i="1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Light regularization (α=10) nudges Ridge marginally ahead of Linear Regression. Multicollinearity in Latitude/Longitude makes a small ridge penalty worthwhile, whereas Lasso’s L1 penalty is too aggressive on this scaled data.</a:t>
              </a:r>
              <a:endParaRPr sz="1300" b="0" i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26"/>
          <p:cNvSpPr txBox="1"/>
          <p:nvPr/>
        </p:nvSpPr>
        <p:spPr>
          <a:xfrm>
            <a:off x="571500" y="476250"/>
            <a:ext cx="1104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Additional Diagnostics</a:t>
            </a:r>
            <a:endParaRPr sz="1400" b="0">
              <a:solidFill>
                <a:srgbClr val="DEFF9A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marL="0" lvl="0" indent="0" algn="l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4800" b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Multicollinearity </a:t>
            </a:r>
            <a:r>
              <a:rPr lang="en-US" sz="4800" b="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&amp; Model Limits</a:t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364" name="Google Shape;364;p26"/>
          <p:cNvGrpSpPr/>
          <p:nvPr/>
        </p:nvGrpSpPr>
        <p:grpSpPr>
          <a:xfrm>
            <a:off x="571500" y="1714500"/>
            <a:ext cx="5238900" cy="4000500"/>
            <a:chOff x="0" y="0"/>
            <a:chExt cx="5238900" cy="4000500"/>
          </a:xfrm>
        </p:grpSpPr>
        <p:sp>
          <p:nvSpPr>
            <p:cNvPr id="365" name="Google Shape;365;p26"/>
            <p:cNvSpPr/>
            <p:nvPr/>
          </p:nvSpPr>
          <p:spPr>
            <a:xfrm>
              <a:off x="0" y="0"/>
              <a:ext cx="5238900" cy="4000500"/>
            </a:xfrm>
            <a:prstGeom prst="roundRect">
              <a:avLst>
                <a:gd name="adj" fmla="val 4761"/>
              </a:avLst>
            </a:prstGeom>
            <a:solidFill>
              <a:srgbClr val="1A1A1A">
                <a:alpha val="8999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6"/>
            <p:cNvSpPr txBox="1"/>
            <p:nvPr/>
          </p:nvSpPr>
          <p:spPr>
            <a:xfrm>
              <a:off x="285750" y="285750"/>
              <a:ext cx="46674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>
                  <a:solidFill>
                    <a:srgbClr val="DEFF9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Variance Inflation Factor (VIF)</a:t>
              </a:r>
              <a:endParaRPr sz="1800" b="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b="1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FeatureVIF</a:t>
              </a:r>
              <a:endParaRPr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MedInc11.5</a:t>
              </a:r>
              <a:endParaRPr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HouseAge7.2</a:t>
              </a:r>
              <a:endParaRPr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AveRooms46.0</a:t>
              </a:r>
              <a:endParaRPr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AveBedrms43.6</a:t>
              </a:r>
              <a:endParaRPr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Population2.9</a:t>
              </a:r>
              <a:endParaRPr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AveOccup1.1</a:t>
              </a:r>
              <a:endParaRPr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b="1">
                  <a:solidFill>
                    <a:srgbClr val="FF6B6B"/>
                  </a:solidFill>
                  <a:latin typeface="Urbanist"/>
                  <a:ea typeface="Urbanist"/>
                  <a:cs typeface="Urbanist"/>
                  <a:sym typeface="Urbanist"/>
                </a:rPr>
                <a:t>Latitude559.9</a:t>
              </a:r>
              <a:endParaRPr b="1">
                <a:solidFill>
                  <a:srgbClr val="FF6B6B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b="1">
                  <a:solidFill>
                    <a:srgbClr val="FF6B6B"/>
                  </a:solidFill>
                  <a:latin typeface="Urbanist"/>
                  <a:ea typeface="Urbanist"/>
                  <a:cs typeface="Urbanist"/>
                  <a:sym typeface="Urbanist"/>
                </a:rPr>
                <a:t>Longitude633.7</a:t>
              </a:r>
              <a:endParaRPr b="1">
                <a:solidFill>
                  <a:srgbClr val="FF6B6B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367" name="Google Shape;367;p26"/>
          <p:cNvGrpSpPr/>
          <p:nvPr/>
        </p:nvGrpSpPr>
        <p:grpSpPr>
          <a:xfrm>
            <a:off x="6096000" y="1714500"/>
            <a:ext cx="5524500" cy="1905000"/>
            <a:chOff x="0" y="0"/>
            <a:chExt cx="5524500" cy="1905000"/>
          </a:xfrm>
        </p:grpSpPr>
        <p:sp>
          <p:nvSpPr>
            <p:cNvPr id="368" name="Google Shape;368;p26"/>
            <p:cNvSpPr/>
            <p:nvPr/>
          </p:nvSpPr>
          <p:spPr>
            <a:xfrm>
              <a:off x="0" y="0"/>
              <a:ext cx="5524500" cy="1905000"/>
            </a:xfrm>
            <a:prstGeom prst="roundRect">
              <a:avLst>
                <a:gd name="adj" fmla="val 10000"/>
              </a:avLst>
            </a:prstGeom>
            <a:solidFill>
              <a:srgbClr val="1A1A1A">
                <a:alpha val="89999"/>
              </a:srgbClr>
            </a:solidFill>
            <a:ln w="9525" cap="flat" cmpd="sng">
              <a:solidFill>
                <a:srgbClr val="DEFF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6"/>
            <p:cNvSpPr txBox="1"/>
            <p:nvPr/>
          </p:nvSpPr>
          <p:spPr>
            <a:xfrm>
              <a:off x="285750" y="285750"/>
              <a:ext cx="4953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DEFF9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error_outline</a:t>
              </a:r>
              <a:r>
                <a:rPr lang="en-US" sz="1800" b="0">
                  <a:solidFill>
                    <a:srgbClr val="DEFF9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Target Value Capping</a:t>
              </a:r>
              <a:endParaRPr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The dataset caps house values at $500,011. This creates a visible horizontal band of under-predictions in the actual-vs-predicted plot — a known dataset artifact, not a modeling bug.</a:t>
              </a:r>
              <a:endParaRPr sz="1300" b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370" name="Google Shape;370;p26"/>
          <p:cNvGrpSpPr/>
          <p:nvPr/>
        </p:nvGrpSpPr>
        <p:grpSpPr>
          <a:xfrm>
            <a:off x="6096000" y="3810000"/>
            <a:ext cx="5524500" cy="1905000"/>
            <a:chOff x="0" y="0"/>
            <a:chExt cx="5524500" cy="1905000"/>
          </a:xfrm>
        </p:grpSpPr>
        <p:sp>
          <p:nvSpPr>
            <p:cNvPr id="371" name="Google Shape;371;p26"/>
            <p:cNvSpPr/>
            <p:nvPr/>
          </p:nvSpPr>
          <p:spPr>
            <a:xfrm>
              <a:off x="0" y="0"/>
              <a:ext cx="5524500" cy="1905000"/>
            </a:xfrm>
            <a:prstGeom prst="roundRect">
              <a:avLst>
                <a:gd name="adj" fmla="val 10000"/>
              </a:avLst>
            </a:prstGeom>
            <a:solidFill>
              <a:srgbClr val="1A1A1A">
                <a:alpha val="89999"/>
              </a:srgbClr>
            </a:solidFill>
            <a:ln w="9525" cap="flat" cmpd="sng">
              <a:solidFill>
                <a:srgbClr val="DEFF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6"/>
            <p:cNvSpPr txBox="1"/>
            <p:nvPr/>
          </p:nvSpPr>
          <p:spPr>
            <a:xfrm>
              <a:off x="285750" y="285750"/>
              <a:ext cx="4953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DEFF9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trending_up</a:t>
              </a:r>
              <a:r>
                <a:rPr lang="en-US" sz="1800" b="0">
                  <a:solidFill>
                    <a:srgbClr val="DEFF9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Learning Curve</a:t>
              </a:r>
              <a:endParaRPr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Training and validation R² converge as data grows, with no widening gap — the model is underfit, not overfit. More features or a non-linear model (not more rows) would likely raise the R² ceiling.</a:t>
              </a:r>
              <a:endParaRPr sz="1300" b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373" name="Google Shape;373;p26"/>
          <p:cNvGrpSpPr/>
          <p:nvPr/>
        </p:nvGrpSpPr>
        <p:grpSpPr>
          <a:xfrm>
            <a:off x="571500" y="5905500"/>
            <a:ext cx="11049000" cy="666900"/>
            <a:chOff x="0" y="0"/>
            <a:chExt cx="11049000" cy="666900"/>
          </a:xfrm>
        </p:grpSpPr>
        <p:sp>
          <p:nvSpPr>
            <p:cNvPr id="374" name="Google Shape;374;p26"/>
            <p:cNvSpPr/>
            <p:nvPr/>
          </p:nvSpPr>
          <p:spPr>
            <a:xfrm>
              <a:off x="0" y="0"/>
              <a:ext cx="11049000" cy="666900"/>
            </a:xfrm>
            <a:prstGeom prst="roundRect">
              <a:avLst>
                <a:gd name="adj" fmla="val 21428"/>
              </a:avLst>
            </a:prstGeom>
            <a:solidFill>
              <a:srgbClr val="DEFF9A">
                <a:alpha val="10000"/>
              </a:srgbClr>
            </a:solidFill>
            <a:ln w="9525" cap="flat" cmpd="sng">
              <a:solidFill>
                <a:srgbClr val="DEFF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6"/>
            <p:cNvSpPr/>
            <p:nvPr/>
          </p:nvSpPr>
          <p:spPr>
            <a:xfrm>
              <a:off x="142875" y="142875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flat" cmpd="sng">
              <a:solidFill>
                <a:srgbClr val="DEFF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6"/>
            <p:cNvSpPr/>
            <p:nvPr/>
          </p:nvSpPr>
          <p:spPr>
            <a:xfrm>
              <a:off x="10715625" y="333375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120000" y="120000"/>
                  </a:lnTo>
                  <a:moveTo>
                    <a:pt x="120000" y="12000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flat" cmpd="sng">
              <a:solidFill>
                <a:srgbClr val="DEFF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6"/>
            <p:cNvSpPr txBox="1"/>
            <p:nvPr/>
          </p:nvSpPr>
          <p:spPr>
            <a:xfrm>
              <a:off x="476250" y="95250"/>
              <a:ext cx="10096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i="1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VIF &gt; 10 signals problematic multicollinearity. Latitude and Longitude are extreme — expected for spatial coordinates — explaining Ridge's small edge over plain Linear Regression.</a:t>
              </a:r>
              <a:endParaRPr sz="1300" i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38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11887198" cy="600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7"/>
          <p:cNvSpPr txBox="1"/>
          <p:nvPr/>
        </p:nvSpPr>
        <p:spPr>
          <a:xfrm>
            <a:off x="571500" y="476250"/>
            <a:ext cx="1104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SYNTHESIS</a:t>
            </a:r>
            <a:endParaRPr sz="1400" b="0">
              <a:solidFill>
                <a:srgbClr val="DEFF9A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marL="0" lvl="0" indent="0" algn="l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4800" b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Key </a:t>
            </a:r>
            <a:r>
              <a:rPr lang="en-US" sz="4800" b="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Findings</a:t>
            </a:r>
            <a:endParaRPr sz="4800" b="0">
              <a:solidFill>
                <a:srgbClr val="F5F5F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grpSp>
        <p:nvGrpSpPr>
          <p:cNvPr id="385" name="Google Shape;385;p27"/>
          <p:cNvGrpSpPr/>
          <p:nvPr/>
        </p:nvGrpSpPr>
        <p:grpSpPr>
          <a:xfrm>
            <a:off x="571500" y="1809750"/>
            <a:ext cx="2047800" cy="3619500"/>
            <a:chOff x="0" y="0"/>
            <a:chExt cx="2047800" cy="3619500"/>
          </a:xfrm>
        </p:grpSpPr>
        <p:sp>
          <p:nvSpPr>
            <p:cNvPr id="386" name="Google Shape;386;p27"/>
            <p:cNvSpPr/>
            <p:nvPr/>
          </p:nvSpPr>
          <p:spPr>
            <a:xfrm>
              <a:off x="0" y="0"/>
              <a:ext cx="2047800" cy="3619500"/>
            </a:xfrm>
            <a:prstGeom prst="roundRect">
              <a:avLst>
                <a:gd name="adj" fmla="val 9302"/>
              </a:avLst>
            </a:prstGeom>
            <a:solidFill>
              <a:srgbClr val="1A1A1A">
                <a:alpha val="85000"/>
              </a:srgbClr>
            </a:solidFill>
            <a:ln w="9525" cap="flat" cmpd="sng">
              <a:solidFill>
                <a:srgbClr val="DEFF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7"/>
            <p:cNvSpPr txBox="1"/>
            <p:nvPr/>
          </p:nvSpPr>
          <p:spPr>
            <a:xfrm>
              <a:off x="0" y="0"/>
              <a:ext cx="20478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38125" tIns="238125" rIns="238125" bIns="2381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DEFF9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trending_up</a:t>
              </a:r>
              <a:endParaRPr sz="3200">
                <a:solidFill>
                  <a:srgbClr val="DEFF9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800" b="0">
                  <a:solidFill>
                    <a:srgbClr val="DEFF9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Income drives price</a:t>
              </a:r>
              <a:endParaRPr sz="1800" b="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150" b="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Median income (+0.849) is by far the strongest predictor — more than double the next feature.</a:t>
              </a:r>
              <a:endParaRPr sz="1150" b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388" name="Google Shape;388;p27"/>
          <p:cNvGrpSpPr/>
          <p:nvPr/>
        </p:nvGrpSpPr>
        <p:grpSpPr>
          <a:xfrm>
            <a:off x="2809875" y="1809750"/>
            <a:ext cx="2047800" cy="3619500"/>
            <a:chOff x="0" y="0"/>
            <a:chExt cx="2047800" cy="3619500"/>
          </a:xfrm>
        </p:grpSpPr>
        <p:sp>
          <p:nvSpPr>
            <p:cNvPr id="389" name="Google Shape;389;p27"/>
            <p:cNvSpPr/>
            <p:nvPr/>
          </p:nvSpPr>
          <p:spPr>
            <a:xfrm>
              <a:off x="0" y="0"/>
              <a:ext cx="2047800" cy="3619500"/>
            </a:xfrm>
            <a:prstGeom prst="roundRect">
              <a:avLst>
                <a:gd name="adj" fmla="val 9302"/>
              </a:avLst>
            </a:prstGeom>
            <a:solidFill>
              <a:srgbClr val="1A1A1A">
                <a:alpha val="85000"/>
              </a:srgbClr>
            </a:solidFill>
            <a:ln w="9525" cap="flat" cmpd="sng">
              <a:solidFill>
                <a:srgbClr val="DEFF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7"/>
            <p:cNvSpPr txBox="1"/>
            <p:nvPr/>
          </p:nvSpPr>
          <p:spPr>
            <a:xfrm>
              <a:off x="0" y="0"/>
              <a:ext cx="20478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38125" tIns="238125" rIns="238125" bIns="2381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DEFF9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place</a:t>
              </a:r>
              <a:endParaRPr sz="3200">
                <a:solidFill>
                  <a:srgbClr val="DEFF9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800" b="0">
                  <a:solidFill>
                    <a:srgbClr val="DEFF9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Geography is collinear</a:t>
              </a:r>
              <a:endParaRPr sz="1800" b="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150" b="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Latitude and Longitude are severely collinear (VIF &gt; 550); Ridge regularization slightly outperforms plain Linear regression as a result.</a:t>
              </a:r>
              <a:endParaRPr sz="1150" b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391" name="Google Shape;391;p27"/>
          <p:cNvGrpSpPr/>
          <p:nvPr/>
        </p:nvGrpSpPr>
        <p:grpSpPr>
          <a:xfrm>
            <a:off x="5048250" y="1809750"/>
            <a:ext cx="2095500" cy="3619500"/>
            <a:chOff x="0" y="0"/>
            <a:chExt cx="2095500" cy="3619500"/>
          </a:xfrm>
        </p:grpSpPr>
        <p:sp>
          <p:nvSpPr>
            <p:cNvPr id="392" name="Google Shape;392;p27"/>
            <p:cNvSpPr/>
            <p:nvPr/>
          </p:nvSpPr>
          <p:spPr>
            <a:xfrm>
              <a:off x="0" y="0"/>
              <a:ext cx="2095500" cy="3619500"/>
            </a:xfrm>
            <a:prstGeom prst="roundRect">
              <a:avLst>
                <a:gd name="adj" fmla="val 9090"/>
              </a:avLst>
            </a:prstGeom>
            <a:solidFill>
              <a:srgbClr val="1A1A1A">
                <a:alpha val="85000"/>
              </a:srgbClr>
            </a:solidFill>
            <a:ln w="9525" cap="flat" cmpd="sng">
              <a:solidFill>
                <a:srgbClr val="DEFF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7"/>
            <p:cNvSpPr txBox="1"/>
            <p:nvPr/>
          </p:nvSpPr>
          <p:spPr>
            <a:xfrm>
              <a:off x="0" y="0"/>
              <a:ext cx="20955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38125" tIns="238125" rIns="238125" bIns="2381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DEFF9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balance</a:t>
              </a:r>
              <a:endParaRPr sz="3200">
                <a:solidFill>
                  <a:srgbClr val="DEFF9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800" b="0">
                  <a:solidFill>
                    <a:srgbClr val="DEFF9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Ridge ≈ Linear, Lasso fails</a:t>
              </a:r>
              <a:endParaRPr sz="1800" b="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150" b="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Ridge (R² = 0.596) edges out Linear (0.596); default Lasso collapses to R² = 0, requiring explicit alpha tuning.</a:t>
              </a:r>
              <a:endParaRPr sz="1150" b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394" name="Google Shape;394;p27"/>
          <p:cNvGrpSpPr/>
          <p:nvPr/>
        </p:nvGrpSpPr>
        <p:grpSpPr>
          <a:xfrm>
            <a:off x="7334250" y="1809750"/>
            <a:ext cx="2047800" cy="3619500"/>
            <a:chOff x="0" y="0"/>
            <a:chExt cx="2047800" cy="3619500"/>
          </a:xfrm>
        </p:grpSpPr>
        <p:sp>
          <p:nvSpPr>
            <p:cNvPr id="395" name="Google Shape;395;p27"/>
            <p:cNvSpPr/>
            <p:nvPr/>
          </p:nvSpPr>
          <p:spPr>
            <a:xfrm>
              <a:off x="0" y="0"/>
              <a:ext cx="2047800" cy="3619500"/>
            </a:xfrm>
            <a:prstGeom prst="roundRect">
              <a:avLst>
                <a:gd name="adj" fmla="val 9302"/>
              </a:avLst>
            </a:prstGeom>
            <a:solidFill>
              <a:srgbClr val="1A1A1A">
                <a:alpha val="85000"/>
              </a:srgbClr>
            </a:solidFill>
            <a:ln w="9525" cap="flat" cmpd="sng">
              <a:solidFill>
                <a:srgbClr val="DEFF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7"/>
            <p:cNvSpPr txBox="1"/>
            <p:nvPr/>
          </p:nvSpPr>
          <p:spPr>
            <a:xfrm>
              <a:off x="0" y="0"/>
              <a:ext cx="20478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38125" tIns="238125" rIns="238125" bIns="2381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DEFF9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endParaRPr sz="3200">
                <a:solidFill>
                  <a:srgbClr val="DEFF9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800" b="0">
                  <a:solidFill>
                    <a:srgbClr val="DEFF9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Stable across folds</a:t>
              </a:r>
              <a:endParaRPr sz="1800" b="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150" b="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5-fold CV holds at R² = 0.607 ± 0.007 — consistent generalization, not a lucky split.</a:t>
              </a:r>
              <a:endParaRPr sz="1150" b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397" name="Google Shape;397;p27"/>
          <p:cNvGrpSpPr/>
          <p:nvPr/>
        </p:nvGrpSpPr>
        <p:grpSpPr>
          <a:xfrm>
            <a:off x="9572625" y="1809750"/>
            <a:ext cx="2047800" cy="3619500"/>
            <a:chOff x="0" y="0"/>
            <a:chExt cx="2047800" cy="3619500"/>
          </a:xfrm>
        </p:grpSpPr>
        <p:sp>
          <p:nvSpPr>
            <p:cNvPr id="398" name="Google Shape;398;p27"/>
            <p:cNvSpPr/>
            <p:nvPr/>
          </p:nvSpPr>
          <p:spPr>
            <a:xfrm>
              <a:off x="0" y="0"/>
              <a:ext cx="2047800" cy="3619500"/>
            </a:xfrm>
            <a:prstGeom prst="roundRect">
              <a:avLst>
                <a:gd name="adj" fmla="val 9302"/>
              </a:avLst>
            </a:prstGeom>
            <a:solidFill>
              <a:srgbClr val="1A1A1A">
                <a:alpha val="85000"/>
              </a:srgbClr>
            </a:solidFill>
            <a:ln w="9525" cap="flat" cmpd="sng">
              <a:solidFill>
                <a:srgbClr val="DEFF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7"/>
            <p:cNvSpPr txBox="1"/>
            <p:nvPr/>
          </p:nvSpPr>
          <p:spPr>
            <a:xfrm>
              <a:off x="0" y="0"/>
              <a:ext cx="20478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38125" tIns="238125" rIns="238125" bIns="2381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DEFF9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warning</a:t>
              </a:r>
              <a:endParaRPr sz="3200">
                <a:solidFill>
                  <a:srgbClr val="DEFF9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800" b="0">
                  <a:solidFill>
                    <a:srgbClr val="DEFF9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Linear ceiling is ~0.60</a:t>
              </a:r>
              <a:endParaRPr sz="1800" b="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150" b="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A clean, underfit model: residual slope and the learning curve both suggest non-linear models could lift performance further.</a:t>
              </a:r>
              <a:endParaRPr sz="1150" b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400" name="Google Shape;400;p27"/>
          <p:cNvGrpSpPr/>
          <p:nvPr/>
        </p:nvGrpSpPr>
        <p:grpSpPr>
          <a:xfrm>
            <a:off x="571500" y="5905500"/>
            <a:ext cx="11049000" cy="666900"/>
            <a:chOff x="0" y="0"/>
            <a:chExt cx="11049000" cy="666900"/>
          </a:xfrm>
        </p:grpSpPr>
        <p:sp>
          <p:nvSpPr>
            <p:cNvPr id="401" name="Google Shape;401;p27"/>
            <p:cNvSpPr/>
            <p:nvPr/>
          </p:nvSpPr>
          <p:spPr>
            <a:xfrm>
              <a:off x="0" y="0"/>
              <a:ext cx="11049000" cy="666900"/>
            </a:xfrm>
            <a:prstGeom prst="roundRect">
              <a:avLst>
                <a:gd name="adj" fmla="val 21428"/>
              </a:avLst>
            </a:prstGeom>
            <a:solidFill>
              <a:srgbClr val="DEFF9A">
                <a:alpha val="10000"/>
              </a:srgbClr>
            </a:solidFill>
            <a:ln w="9525" cap="flat" cmpd="sng">
              <a:solidFill>
                <a:srgbClr val="DEFF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7"/>
            <p:cNvSpPr/>
            <p:nvPr/>
          </p:nvSpPr>
          <p:spPr>
            <a:xfrm>
              <a:off x="142875" y="142875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flat" cmpd="sng">
              <a:solidFill>
                <a:srgbClr val="DEFF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7"/>
            <p:cNvSpPr/>
            <p:nvPr/>
          </p:nvSpPr>
          <p:spPr>
            <a:xfrm>
              <a:off x="10715625" y="333375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120000" y="120000"/>
                  </a:lnTo>
                  <a:moveTo>
                    <a:pt x="120000" y="12000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flat" cmpd="sng">
              <a:solidFill>
                <a:srgbClr val="DEFF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7"/>
            <p:cNvSpPr txBox="1"/>
            <p:nvPr/>
          </p:nvSpPr>
          <p:spPr>
            <a:xfrm>
              <a:off x="476250" y="95250"/>
              <a:ext cx="10096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 i="1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Synthesis of multi-model diagnostics confirms the dominance of Median Income and the inherent limits of linear regression for this spatial dataset.</a:t>
              </a:r>
              <a:endParaRPr sz="1300" b="0" i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33500"/>
            <a:ext cx="5286375" cy="49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333500"/>
            <a:ext cx="5286375" cy="49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28"/>
          <p:cNvSpPr txBox="1"/>
          <p:nvPr/>
        </p:nvSpPr>
        <p:spPr>
          <a:xfrm>
            <a:off x="571500" y="571500"/>
            <a:ext cx="116014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Validation &amp; </a:t>
            </a:r>
            <a:r>
              <a:rPr lang="en-US" sz="30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Diagnostics</a:t>
            </a:r>
            <a:endParaRPr/>
          </a:p>
        </p:txBody>
      </p:sp>
      <p:sp>
        <p:nvSpPr>
          <p:cNvPr id="413" name="Google Shape;413;p28"/>
          <p:cNvSpPr txBox="1"/>
          <p:nvPr/>
        </p:nvSpPr>
        <p:spPr>
          <a:xfrm>
            <a:off x="952500" y="3019425"/>
            <a:ext cx="47505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5-Fold Cross-Validation</a:t>
            </a:r>
            <a:endParaRPr/>
          </a:p>
        </p:txBody>
      </p:sp>
      <p:sp>
        <p:nvSpPr>
          <p:cNvPr id="414" name="Google Shape;414;p28"/>
          <p:cNvSpPr txBox="1"/>
          <p:nvPr/>
        </p:nvSpPr>
        <p:spPr>
          <a:xfrm>
            <a:off x="952500" y="3571875"/>
            <a:ext cx="452437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Calculated the mean and standard deviation of R² scores across 5 distinct folds. This rigorous process verified the model's ability to consistently generalize to entirely unseen data.</a:t>
            </a:r>
            <a:endParaRPr/>
          </a:p>
        </p:txBody>
      </p:sp>
      <p:sp>
        <p:nvSpPr>
          <p:cNvPr id="415" name="Google Shape;415;p28"/>
          <p:cNvSpPr txBox="1"/>
          <p:nvPr/>
        </p:nvSpPr>
        <p:spPr>
          <a:xfrm>
            <a:off x="6715125" y="3148012"/>
            <a:ext cx="47505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Model Diagnostics</a:t>
            </a:r>
            <a:endParaRPr/>
          </a:p>
        </p:txBody>
      </p:sp>
      <p:sp>
        <p:nvSpPr>
          <p:cNvPr id="416" name="Google Shape;416;p28"/>
          <p:cNvSpPr txBox="1"/>
          <p:nvPr/>
        </p:nvSpPr>
        <p:spPr>
          <a:xfrm>
            <a:off x="6715125" y="3700462"/>
            <a:ext cx="452437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Conducted Actual vs. Predicted visualizations, Residual Analysis, and Feature Importance analysis to critically validate model assumptions and interpret feature influence.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50" y="0"/>
            <a:ext cx="1217265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6" name="Google Shape;42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Google Shape;431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31"/>
          <p:cNvSpPr txBox="1"/>
          <p:nvPr/>
        </p:nvSpPr>
        <p:spPr>
          <a:xfrm>
            <a:off x="571500" y="571500"/>
            <a:ext cx="116014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Conclusion</a:t>
            </a:r>
            <a:endParaRPr/>
          </a:p>
        </p:txBody>
      </p:sp>
      <p:sp>
        <p:nvSpPr>
          <p:cNvPr id="433" name="Google Shape;433;p31"/>
          <p:cNvSpPr txBox="1"/>
          <p:nvPr/>
        </p:nvSpPr>
        <p:spPr>
          <a:xfrm>
            <a:off x="2057400" y="2688877"/>
            <a:ext cx="8077200" cy="168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 successful end-to-end machine learning pipeline resulting in a robust, production-ready predictive model.</a:t>
            </a:r>
            <a:endParaRPr/>
          </a:p>
        </p:txBody>
      </p:sp>
      <p:sp>
        <p:nvSpPr>
          <p:cNvPr id="434" name="Google Shape;434;p31"/>
          <p:cNvSpPr txBox="1"/>
          <p:nvPr/>
        </p:nvSpPr>
        <p:spPr>
          <a:xfrm>
            <a:off x="5086350" y="4654748"/>
            <a:ext cx="20193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— Project Summary</a:t>
            </a:r>
            <a:endParaRPr/>
          </a:p>
        </p:txBody>
      </p:sp>
      <p:sp>
        <p:nvSpPr>
          <p:cNvPr id="435" name="Google Shape;435;p31"/>
          <p:cNvSpPr txBox="1"/>
          <p:nvPr/>
        </p:nvSpPr>
        <p:spPr>
          <a:xfrm>
            <a:off x="1485900" y="3069877"/>
            <a:ext cx="25717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"</a:t>
            </a:r>
            <a:endParaRPr/>
          </a:p>
        </p:txBody>
      </p:sp>
      <p:sp>
        <p:nvSpPr>
          <p:cNvPr id="436" name="Google Shape;436;p31"/>
          <p:cNvSpPr txBox="1"/>
          <p:nvPr/>
        </p:nvSpPr>
        <p:spPr>
          <a:xfrm>
            <a:off x="10448925" y="4369002"/>
            <a:ext cx="25717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"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1311</Words>
  <Application>Microsoft Office PowerPoint</Application>
  <PresentationFormat>Widescreen</PresentationFormat>
  <Paragraphs>199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Urbanist</vt:lpstr>
      <vt:lpstr>Urbanist Medium</vt:lpstr>
      <vt:lpstr>Urbanist SemiBold</vt:lpstr>
      <vt:lpstr>Calibri</vt:lpstr>
      <vt:lpstr>Material Icons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hk821064</cp:lastModifiedBy>
  <cp:revision>1</cp:revision>
  <dcterms:modified xsi:type="dcterms:W3CDTF">2026-06-21T15:29:11Z</dcterms:modified>
</cp:coreProperties>
</file>